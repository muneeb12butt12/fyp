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0"/>
  </p:notesMasterIdLst>
  <p:sldIdLst>
    <p:sldId id="256" r:id="rId2"/>
    <p:sldId id="265" r:id="rId3"/>
    <p:sldId id="268" r:id="rId4"/>
    <p:sldId id="257" r:id="rId5"/>
    <p:sldId id="269" r:id="rId6"/>
    <p:sldId id="258" r:id="rId7"/>
    <p:sldId id="261" r:id="rId8"/>
    <p:sldId id="294" r:id="rId9"/>
    <p:sldId id="298" r:id="rId10"/>
    <p:sldId id="299" r:id="rId11"/>
    <p:sldId id="300" r:id="rId12"/>
    <p:sldId id="301" r:id="rId13"/>
    <p:sldId id="302" r:id="rId14"/>
    <p:sldId id="304" r:id="rId15"/>
    <p:sldId id="305" r:id="rId16"/>
    <p:sldId id="306" r:id="rId17"/>
    <p:sldId id="307" r:id="rId18"/>
    <p:sldId id="308" r:id="rId19"/>
    <p:sldId id="309" r:id="rId20"/>
    <p:sldId id="310" r:id="rId21"/>
    <p:sldId id="311" r:id="rId22"/>
    <p:sldId id="312" r:id="rId23"/>
    <p:sldId id="313" r:id="rId24"/>
    <p:sldId id="315" r:id="rId25"/>
    <p:sldId id="316" r:id="rId26"/>
    <p:sldId id="317" r:id="rId27"/>
    <p:sldId id="318" r:id="rId28"/>
    <p:sldId id="321" r:id="rId29"/>
    <p:sldId id="320" r:id="rId30"/>
    <p:sldId id="322" r:id="rId31"/>
    <p:sldId id="323" r:id="rId32"/>
    <p:sldId id="324" r:id="rId33"/>
    <p:sldId id="326" r:id="rId34"/>
    <p:sldId id="325" r:id="rId35"/>
    <p:sldId id="314" r:id="rId36"/>
    <p:sldId id="327" r:id="rId37"/>
    <p:sldId id="319" r:id="rId38"/>
    <p:sldId id="334" r:id="rId39"/>
    <p:sldId id="328" r:id="rId40"/>
    <p:sldId id="329" r:id="rId41"/>
    <p:sldId id="335" r:id="rId42"/>
    <p:sldId id="330" r:id="rId43"/>
    <p:sldId id="331" r:id="rId44"/>
    <p:sldId id="332" r:id="rId45"/>
    <p:sldId id="333" r:id="rId46"/>
    <p:sldId id="336" r:id="rId47"/>
    <p:sldId id="262" r:id="rId48"/>
    <p:sldId id="264" r:id="rId49"/>
  </p:sldIdLst>
  <p:sldSz cx="14630400" cy="8229600"/>
  <p:notesSz cx="8229600" cy="14630400"/>
  <p:embeddedFontLst>
    <p:embeddedFont>
      <p:font typeface="Calibri" panose="020F0502020204030204" pitchFamily="34" charset="0"/>
      <p:regular r:id="rId51"/>
      <p:bold r:id="rId52"/>
      <p:italic r:id="rId53"/>
      <p:boldItalic r:id="rId54"/>
    </p:embeddedFont>
    <p:embeddedFont>
      <p:font typeface="Merriweather Bold" panose="020B0604020202020204" charset="0"/>
      <p:bold r:id="rId55"/>
    </p:embeddedFont>
    <p:embeddedFont>
      <p:font typeface="Montserrat Classic Bold" panose="020B0604020202020204" charset="0"/>
      <p:regular r:id="rId56"/>
    </p:embeddedFont>
    <p:embeddedFont>
      <p:font typeface="Open Sans" panose="020B0606030504020204" pitchFamily="34" charset="0"/>
      <p:regular r:id="rId57"/>
      <p:bold r:id="rId58"/>
      <p:italic r:id="rId59"/>
      <p:boldItalic r:id="rId60"/>
    </p:embeddedFont>
    <p:embeddedFont>
      <p:font typeface="Oswald Bold" panose="020B0604020202020204" charset="0"/>
      <p:regular r:id="rId61"/>
    </p:embeddedFont>
    <p:embeddedFont>
      <p:font typeface="Times New Roman Bold" panose="02020803070505020304" pitchFamily="18" charset="0"/>
      <p:bold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50" autoAdjust="0"/>
    <p:restoredTop sz="93792" autoAdjust="0"/>
  </p:normalViewPr>
  <p:slideViewPr>
    <p:cSldViewPr snapToGrid="0" snapToObjects="1">
      <p:cViewPr varScale="1">
        <p:scale>
          <a:sx n="54" d="100"/>
          <a:sy n="54"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702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pSp>
        <p:nvGrpSpPr>
          <p:cNvPr id="9" name="Group 5">
            <a:extLst>
              <a:ext uri="{FF2B5EF4-FFF2-40B4-BE49-F238E27FC236}">
                <a16:creationId xmlns:a16="http://schemas.microsoft.com/office/drawing/2014/main" id="{14420CF1-EFE3-4EBE-A57B-F4C71B920908}"/>
              </a:ext>
            </a:extLst>
          </p:cNvPr>
          <p:cNvGrpSpPr/>
          <p:nvPr/>
        </p:nvGrpSpPr>
        <p:grpSpPr>
          <a:xfrm>
            <a:off x="6103620" y="1434658"/>
            <a:ext cx="7732991" cy="3749828"/>
            <a:chOff x="0" y="-19050"/>
            <a:chExt cx="2416813" cy="896924"/>
          </a:xfrm>
        </p:grpSpPr>
        <p:sp>
          <p:nvSpPr>
            <p:cNvPr id="10" name="Freeform 6">
              <a:extLst>
                <a:ext uri="{FF2B5EF4-FFF2-40B4-BE49-F238E27FC236}">
                  <a16:creationId xmlns:a16="http://schemas.microsoft.com/office/drawing/2014/main" id="{5D5DF207-F663-4C5C-8D30-B59CF217A4B4}"/>
                </a:ext>
              </a:extLst>
            </p:cNvPr>
            <p:cNvSpPr/>
            <p:nvPr/>
          </p:nvSpPr>
          <p:spPr>
            <a:xfrm>
              <a:off x="26978" y="65074"/>
              <a:ext cx="2389835" cy="812800"/>
            </a:xfrm>
            <a:custGeom>
              <a:avLst/>
              <a:gdLst/>
              <a:ahLst/>
              <a:cxnLst/>
              <a:rect l="l" t="t" r="r" b="b"/>
              <a:pathLst>
                <a:path w="2389835" h="812800">
                  <a:moveTo>
                    <a:pt x="0" y="0"/>
                  </a:moveTo>
                  <a:lnTo>
                    <a:pt x="2389835" y="0"/>
                  </a:lnTo>
                  <a:lnTo>
                    <a:pt x="2389835" y="812800"/>
                  </a:lnTo>
                  <a:lnTo>
                    <a:pt x="0" y="812800"/>
                  </a:lnTo>
                  <a:close/>
                </a:path>
              </a:pathLst>
            </a:custGeom>
            <a:solidFill>
              <a:srgbClr val="000000">
                <a:alpha val="0"/>
              </a:srgbClr>
            </a:solidFill>
            <a:ln w="38100" cap="sq">
              <a:solidFill>
                <a:srgbClr val="000000"/>
              </a:solidFill>
              <a:prstDash val="solid"/>
              <a:miter/>
            </a:ln>
          </p:spPr>
          <p:txBody>
            <a:bodyPr/>
            <a:lstStyle/>
            <a:p>
              <a:endParaRPr lang="en-US" dirty="0"/>
            </a:p>
          </p:txBody>
        </p:sp>
        <p:sp>
          <p:nvSpPr>
            <p:cNvPr id="11" name="TextBox 7">
              <a:extLst>
                <a:ext uri="{FF2B5EF4-FFF2-40B4-BE49-F238E27FC236}">
                  <a16:creationId xmlns:a16="http://schemas.microsoft.com/office/drawing/2014/main" id="{41F49FEB-CEA0-4164-88D2-AB85EFB3971F}"/>
                </a:ext>
              </a:extLst>
            </p:cNvPr>
            <p:cNvSpPr txBox="1"/>
            <p:nvPr/>
          </p:nvSpPr>
          <p:spPr>
            <a:xfrm>
              <a:off x="0" y="-19050"/>
              <a:ext cx="2389835" cy="831850"/>
            </a:xfrm>
            <a:prstGeom prst="rect">
              <a:avLst/>
            </a:prstGeom>
          </p:spPr>
          <p:txBody>
            <a:bodyPr lIns="50800" tIns="50800" rIns="50800" bIns="50800" rtlCol="0" anchor="ctr"/>
            <a:lstStyle/>
            <a:p>
              <a:pPr algn="ctr">
                <a:lnSpc>
                  <a:spcPts val="2859"/>
                </a:lnSpc>
              </a:pPr>
              <a:endParaRPr/>
            </a:p>
          </p:txBody>
        </p:sp>
      </p:grpSp>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234441"/>
            <a:ext cx="7556421" cy="1874520"/>
          </a:xfrm>
          <a:prstGeom prst="rect">
            <a:avLst/>
          </a:prstGeom>
          <a:noFill/>
          <a:ln/>
        </p:spPr>
        <p:txBody>
          <a:bodyPr wrap="square" lIns="0" tIns="0" rIns="0" bIns="0" rtlCol="0" anchor="t"/>
          <a:lstStyle/>
          <a:p>
            <a:pPr algn="ctr">
              <a:lnSpc>
                <a:spcPts val="18131"/>
              </a:lnSpc>
            </a:pPr>
            <a:r>
              <a:rPr lang="en-US" sz="4400" spc="1287" dirty="0" err="1">
                <a:solidFill>
                  <a:srgbClr val="231F20"/>
                </a:solidFill>
                <a:latin typeface="Oswald Bold"/>
              </a:rPr>
              <a:t>SportswearXpress</a:t>
            </a:r>
            <a:endParaRPr lang="en-US" sz="12900" spc="1287" dirty="0">
              <a:solidFill>
                <a:srgbClr val="231F20"/>
              </a:solidFill>
              <a:latin typeface="Oswald Bold"/>
            </a:endParaRPr>
          </a:p>
        </p:txBody>
      </p:sp>
      <p:sp>
        <p:nvSpPr>
          <p:cNvPr id="4" name="Text 1"/>
          <p:cNvSpPr/>
          <p:nvPr/>
        </p:nvSpPr>
        <p:spPr>
          <a:xfrm>
            <a:off x="6189941" y="3882761"/>
            <a:ext cx="7556421" cy="725805"/>
          </a:xfrm>
          <a:prstGeom prst="rect">
            <a:avLst/>
          </a:prstGeom>
          <a:noFill/>
          <a:ln/>
        </p:spPr>
        <p:txBody>
          <a:bodyPr wrap="square" lIns="0" tIns="0" rIns="0" bIns="0" rtlCol="0" anchor="t"/>
          <a:lstStyle/>
          <a:p>
            <a:pPr algn="ctr">
              <a:lnSpc>
                <a:spcPts val="3661"/>
              </a:lnSpc>
            </a:pPr>
            <a:r>
              <a:rPr lang="en-US" sz="2400" b="1" spc="140" dirty="0">
                <a:solidFill>
                  <a:srgbClr val="231F20"/>
                </a:solidFill>
                <a:latin typeface="Montserrat Classic Bold"/>
              </a:rPr>
              <a:t>AI-Enhanced Sportswear Customization Platform </a:t>
            </a:r>
          </a:p>
        </p:txBody>
      </p:sp>
      <p:sp>
        <p:nvSpPr>
          <p:cNvPr id="5" name="Shape 2"/>
          <p:cNvSpPr/>
          <p:nvPr/>
        </p:nvSpPr>
        <p:spPr>
          <a:xfrm>
            <a:off x="6280190" y="5302568"/>
            <a:ext cx="362903" cy="362903"/>
          </a:xfrm>
          <a:prstGeom prst="roundRect">
            <a:avLst>
              <a:gd name="adj" fmla="val 25194296"/>
            </a:avLst>
          </a:prstGeom>
          <a:noFill/>
          <a:ln w="7620">
            <a:solidFill>
              <a:srgbClr val="FFFFFF"/>
            </a:solidFill>
            <a:prstDash val="solid"/>
          </a:ln>
        </p:spPr>
      </p:sp>
      <p:sp>
        <p:nvSpPr>
          <p:cNvPr id="7" name="Text 3"/>
          <p:cNvSpPr/>
          <p:nvPr/>
        </p:nvSpPr>
        <p:spPr>
          <a:xfrm>
            <a:off x="6756440" y="5285661"/>
            <a:ext cx="2264212" cy="396835"/>
          </a:xfrm>
          <a:prstGeom prst="rect">
            <a:avLst/>
          </a:prstGeom>
          <a:noFill/>
          <a:ln/>
        </p:spPr>
        <p:txBody>
          <a:bodyPr wrap="none" lIns="0" tIns="0" rIns="0" bIns="0" rtlCol="0" anchor="t"/>
          <a:lstStyle/>
          <a:p>
            <a:pPr marL="0" indent="0" algn="l">
              <a:lnSpc>
                <a:spcPts val="3100"/>
              </a:lnSpc>
              <a:buNone/>
            </a:pPr>
            <a:endParaRPr lang="en-US" sz="2200" dirty="0"/>
          </a:p>
        </p:txBody>
      </p:sp>
      <p:sp>
        <p:nvSpPr>
          <p:cNvPr id="8" name="Rectangle: Rounded Corners 7">
            <a:extLst>
              <a:ext uri="{FF2B5EF4-FFF2-40B4-BE49-F238E27FC236}">
                <a16:creationId xmlns:a16="http://schemas.microsoft.com/office/drawing/2014/main" id="{51653A26-9C46-4742-AE5E-04EE5DCF7ED8}"/>
              </a:ext>
            </a:extLst>
          </p:cNvPr>
          <p:cNvSpPr/>
          <p:nvPr/>
        </p:nvSpPr>
        <p:spPr>
          <a:xfrm>
            <a:off x="12461359" y="7775057"/>
            <a:ext cx="2083981" cy="36682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err="1">
                <a:ln w="6600">
                  <a:solidFill>
                    <a:schemeClr val="accent2"/>
                  </a:solidFill>
                  <a:prstDash val="solid"/>
                </a:ln>
                <a:solidFill>
                  <a:srgbClr val="FFFFFF"/>
                </a:solidFill>
                <a:effectLst>
                  <a:outerShdw dist="38100" dir="2700000" algn="tl" rotWithShape="0">
                    <a:schemeClr val="accent2"/>
                  </a:outerShdw>
                </a:effectLst>
              </a:rPr>
              <a:t>SportWearXpress</a:t>
            </a: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902863"/>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403C4E"/>
                </a:solidFill>
                <a:latin typeface="Merriweather Bold" pitchFamily="34" charset="0"/>
                <a:ea typeface="Merriweather Bold" pitchFamily="34" charset="-122"/>
                <a:cs typeface="Merriweather Bold" pitchFamily="34" charset="-120"/>
              </a:rPr>
              <a:t>Presented by</a:t>
            </a:r>
            <a:endParaRPr lang="en-US" sz="4450" dirty="0"/>
          </a:p>
        </p:txBody>
      </p:sp>
      <p:sp>
        <p:nvSpPr>
          <p:cNvPr id="4" name="Text 1"/>
          <p:cNvSpPr/>
          <p:nvPr/>
        </p:nvSpPr>
        <p:spPr>
          <a:xfrm>
            <a:off x="6280190" y="4178617"/>
            <a:ext cx="2149554" cy="354330"/>
          </a:xfrm>
          <a:prstGeom prst="rect">
            <a:avLst/>
          </a:prstGeom>
          <a:noFill/>
          <a:ln/>
        </p:spPr>
        <p:txBody>
          <a:bodyPr wrap="none" lIns="0" tIns="0" rIns="0" bIns="0" rtlCol="0" anchor="t"/>
          <a:lstStyle/>
          <a:p>
            <a:pPr marL="0" indent="0">
              <a:lnSpc>
                <a:spcPts val="2750"/>
              </a:lnSpc>
              <a:buNone/>
            </a:pPr>
            <a:r>
              <a:rPr lang="en-US" sz="2200" b="1" dirty="0" err="1">
                <a:solidFill>
                  <a:srgbClr val="403C4E"/>
                </a:solidFill>
                <a:latin typeface="Merriweather Bold" pitchFamily="34" charset="0"/>
                <a:ea typeface="Merriweather Bold" pitchFamily="34" charset="-122"/>
                <a:cs typeface="Merriweather Bold" pitchFamily="34" charset="-120"/>
              </a:rPr>
              <a:t>Awais</a:t>
            </a:r>
            <a:r>
              <a:rPr lang="en-US" sz="2200" b="1" dirty="0">
                <a:solidFill>
                  <a:srgbClr val="403C4E"/>
                </a:solidFill>
                <a:latin typeface="Merriweather Bold" pitchFamily="34" charset="0"/>
                <a:ea typeface="Merriweather Bold" pitchFamily="34" charset="-122"/>
                <a:cs typeface="Merriweather Bold" pitchFamily="34" charset="-120"/>
              </a:rPr>
              <a:t> </a:t>
            </a:r>
            <a:r>
              <a:rPr lang="en-US" sz="2200" b="1" dirty="0" err="1">
                <a:solidFill>
                  <a:srgbClr val="403C4E"/>
                </a:solidFill>
                <a:latin typeface="Merriweather Bold" pitchFamily="34" charset="0"/>
                <a:ea typeface="Merriweather Bold" pitchFamily="34" charset="-122"/>
                <a:cs typeface="Merriweather Bold" pitchFamily="34" charset="-120"/>
              </a:rPr>
              <a:t>Akram</a:t>
            </a:r>
            <a:endParaRPr lang="en-US" sz="2200" dirty="0"/>
          </a:p>
        </p:txBody>
      </p:sp>
      <p:sp>
        <p:nvSpPr>
          <p:cNvPr id="5" name="Text 2"/>
          <p:cNvSpPr/>
          <p:nvPr/>
        </p:nvSpPr>
        <p:spPr>
          <a:xfrm>
            <a:off x="6280190" y="4759762"/>
            <a:ext cx="2149554" cy="362903"/>
          </a:xfrm>
          <a:prstGeom prst="rect">
            <a:avLst/>
          </a:prstGeom>
          <a:noFill/>
          <a:ln/>
        </p:spPr>
        <p:txBody>
          <a:bodyPr wrap="none" lIns="0" tIns="0" rIns="0" bIns="0" rtlCol="0" anchor="t"/>
          <a:lstStyle/>
          <a:p>
            <a:pPr marL="0" indent="0">
              <a:lnSpc>
                <a:spcPts val="2850"/>
              </a:lnSpc>
              <a:buNone/>
            </a:pPr>
            <a:r>
              <a:rPr lang="en-US" sz="1750" dirty="0">
                <a:solidFill>
                  <a:srgbClr val="403C4E"/>
                </a:solidFill>
                <a:latin typeface="Open Sans" pitchFamily="34" charset="0"/>
                <a:ea typeface="Open Sans" pitchFamily="34" charset="-122"/>
                <a:cs typeface="Open Sans" pitchFamily="34" charset="-120"/>
              </a:rPr>
              <a:t>L1S21BSSE0072</a:t>
            </a:r>
            <a:endParaRPr lang="en-US" sz="1750" dirty="0"/>
          </a:p>
        </p:txBody>
      </p:sp>
      <p:sp>
        <p:nvSpPr>
          <p:cNvPr id="6" name="Text 3"/>
          <p:cNvSpPr/>
          <p:nvPr/>
        </p:nvSpPr>
        <p:spPr>
          <a:xfrm>
            <a:off x="8990767" y="4178617"/>
            <a:ext cx="2149554" cy="354330"/>
          </a:xfrm>
          <a:prstGeom prst="rect">
            <a:avLst/>
          </a:prstGeom>
          <a:noFill/>
          <a:ln/>
        </p:spPr>
        <p:txBody>
          <a:bodyPr wrap="none" lIns="0" tIns="0" rIns="0" bIns="0" rtlCol="0" anchor="t"/>
          <a:lstStyle/>
          <a:p>
            <a:pPr marL="0" indent="0">
              <a:lnSpc>
                <a:spcPts val="2750"/>
              </a:lnSpc>
              <a:buNone/>
            </a:pPr>
            <a:r>
              <a:rPr lang="en-US" sz="2200" b="1" dirty="0" err="1">
                <a:solidFill>
                  <a:srgbClr val="403C4E"/>
                </a:solidFill>
                <a:latin typeface="Merriweather Bold" pitchFamily="34" charset="0"/>
                <a:ea typeface="Merriweather Bold" pitchFamily="34" charset="-122"/>
                <a:cs typeface="Merriweather Bold" pitchFamily="34" charset="-120"/>
              </a:rPr>
              <a:t>Qasim</a:t>
            </a:r>
            <a:r>
              <a:rPr lang="en-US" sz="2200" b="1" dirty="0">
                <a:solidFill>
                  <a:srgbClr val="403C4E"/>
                </a:solidFill>
                <a:latin typeface="Merriweather Bold" pitchFamily="34" charset="0"/>
                <a:ea typeface="Merriweather Bold" pitchFamily="34" charset="-122"/>
                <a:cs typeface="Merriweather Bold" pitchFamily="34" charset="-120"/>
              </a:rPr>
              <a:t> Abbas </a:t>
            </a:r>
            <a:endParaRPr lang="en-US" sz="2200" dirty="0"/>
          </a:p>
        </p:txBody>
      </p:sp>
      <p:sp>
        <p:nvSpPr>
          <p:cNvPr id="7" name="Text 4"/>
          <p:cNvSpPr/>
          <p:nvPr/>
        </p:nvSpPr>
        <p:spPr>
          <a:xfrm>
            <a:off x="8548005" y="4759762"/>
            <a:ext cx="2149554" cy="362903"/>
          </a:xfrm>
          <a:prstGeom prst="rect">
            <a:avLst/>
          </a:prstGeom>
          <a:noFill/>
          <a:ln/>
        </p:spPr>
        <p:txBody>
          <a:bodyPr wrap="none" lIns="0" tIns="0" rIns="0" bIns="0" rtlCol="0" anchor="t"/>
          <a:lstStyle/>
          <a:p>
            <a:pPr lvl="1" algn="just">
              <a:lnSpc>
                <a:spcPts val="2850"/>
              </a:lnSpc>
            </a:pPr>
            <a:r>
              <a:rPr lang="en-US" sz="1750" dirty="0">
                <a:solidFill>
                  <a:srgbClr val="403C4E"/>
                </a:solidFill>
                <a:latin typeface="Open Sans" pitchFamily="34" charset="0"/>
                <a:ea typeface="Open Sans" pitchFamily="34" charset="-122"/>
                <a:cs typeface="Open Sans" pitchFamily="34" charset="-120"/>
              </a:rPr>
              <a:t>L1F21BSSE0476</a:t>
            </a:r>
            <a:endParaRPr lang="en-US" sz="1750" dirty="0"/>
          </a:p>
        </p:txBody>
      </p:sp>
      <p:sp>
        <p:nvSpPr>
          <p:cNvPr id="8" name="Text 5"/>
          <p:cNvSpPr/>
          <p:nvPr/>
        </p:nvSpPr>
        <p:spPr>
          <a:xfrm>
            <a:off x="11701343" y="4178617"/>
            <a:ext cx="2149554" cy="354330"/>
          </a:xfrm>
          <a:prstGeom prst="rect">
            <a:avLst/>
          </a:prstGeom>
          <a:noFill/>
          <a:ln/>
        </p:spPr>
        <p:txBody>
          <a:bodyPr wrap="none" lIns="0" tIns="0" rIns="0" bIns="0" rtlCol="0" anchor="t"/>
          <a:lstStyle/>
          <a:p>
            <a:pPr marL="0" indent="0">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Muneeb Butt</a:t>
            </a:r>
            <a:endParaRPr lang="en-US" sz="2200" dirty="0"/>
          </a:p>
        </p:txBody>
      </p:sp>
      <p:sp>
        <p:nvSpPr>
          <p:cNvPr id="9" name="Text 6"/>
          <p:cNvSpPr/>
          <p:nvPr/>
        </p:nvSpPr>
        <p:spPr>
          <a:xfrm>
            <a:off x="11701343" y="4759762"/>
            <a:ext cx="2149554" cy="362903"/>
          </a:xfrm>
          <a:prstGeom prst="rect">
            <a:avLst/>
          </a:prstGeom>
          <a:noFill/>
          <a:ln/>
        </p:spPr>
        <p:txBody>
          <a:bodyPr wrap="none" lIns="0" tIns="0" rIns="0" bIns="0" rtlCol="0" anchor="t"/>
          <a:lstStyle/>
          <a:p>
            <a:pPr marL="0" indent="0">
              <a:lnSpc>
                <a:spcPts val="2850"/>
              </a:lnSpc>
              <a:buNone/>
            </a:pPr>
            <a:r>
              <a:rPr lang="en-US" sz="1750" dirty="0">
                <a:solidFill>
                  <a:srgbClr val="403C4E"/>
                </a:solidFill>
                <a:latin typeface="Open Sans" pitchFamily="34" charset="0"/>
                <a:ea typeface="Open Sans" pitchFamily="34" charset="-122"/>
                <a:cs typeface="Open Sans" pitchFamily="34" charset="-120"/>
              </a:rPr>
              <a:t>L1F21BSSE0564</a:t>
            </a:r>
            <a:endParaRPr lang="en-US" sz="1750" dirty="0"/>
          </a:p>
        </p:txBody>
      </p:sp>
      <p:sp>
        <p:nvSpPr>
          <p:cNvPr id="10" name="Rectangle: Rounded Corners 9">
            <a:extLst>
              <a:ext uri="{FF2B5EF4-FFF2-40B4-BE49-F238E27FC236}">
                <a16:creationId xmlns:a16="http://schemas.microsoft.com/office/drawing/2014/main" id="{6D662D33-DA24-4DDE-B3E1-5EB659506BB6}"/>
              </a:ext>
            </a:extLst>
          </p:cNvPr>
          <p:cNvSpPr/>
          <p:nvPr/>
        </p:nvSpPr>
        <p:spPr>
          <a:xfrm>
            <a:off x="12461359" y="7775057"/>
            <a:ext cx="2083981" cy="36682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err="1">
                <a:ln w="6600">
                  <a:solidFill>
                    <a:schemeClr val="accent2"/>
                  </a:solidFill>
                  <a:prstDash val="solid"/>
                </a:ln>
                <a:solidFill>
                  <a:srgbClr val="FFFFFF"/>
                </a:solidFill>
                <a:effectLst>
                  <a:outerShdw dist="38100" dir="2700000" algn="tl" rotWithShape="0">
                    <a:schemeClr val="accent2"/>
                  </a:outerShdw>
                </a:effectLst>
              </a:rPr>
              <a:t>SportWearXpress</a:t>
            </a: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B8631DC-61DE-400E-B85D-019D651DFA5A}"/>
              </a:ext>
            </a:extLst>
          </p:cNvPr>
          <p:cNvSpPr/>
          <p:nvPr/>
        </p:nvSpPr>
        <p:spPr>
          <a:xfrm>
            <a:off x="833794" y="3114020"/>
            <a:ext cx="6765727" cy="708779"/>
          </a:xfrm>
          <a:prstGeom prst="rect">
            <a:avLst/>
          </a:prstGeom>
          <a:noFill/>
          <a:ln/>
        </p:spPr>
        <p:txBody>
          <a:bodyPr wrap="none" lIns="0" tIns="0" rIns="0" bIns="0" rtlCol="0" anchor="t"/>
          <a:lstStyle/>
          <a:p>
            <a:pPr marL="0" indent="0">
              <a:lnSpc>
                <a:spcPts val="5550"/>
              </a:lnSpc>
              <a:buNone/>
            </a:pPr>
            <a:r>
              <a:rPr lang="en-US" sz="4450" b="1" dirty="0">
                <a:solidFill>
                  <a:srgbClr val="403C4E"/>
                </a:solidFill>
                <a:latin typeface="Merriweather Bold" pitchFamily="34" charset="0"/>
                <a:ea typeface="Merriweather Bold" pitchFamily="34" charset="-122"/>
              </a:rPr>
              <a:t>INTRODUCTION</a:t>
            </a:r>
            <a:endParaRPr lang="en-US" sz="4450" dirty="0"/>
          </a:p>
        </p:txBody>
      </p:sp>
      <p:sp>
        <p:nvSpPr>
          <p:cNvPr id="3" name="Text 1">
            <a:extLst>
              <a:ext uri="{FF2B5EF4-FFF2-40B4-BE49-F238E27FC236}">
                <a16:creationId xmlns:a16="http://schemas.microsoft.com/office/drawing/2014/main" id="{08EBB099-4CD8-4FBF-86BE-6425AEAD592F}"/>
              </a:ext>
            </a:extLst>
          </p:cNvPr>
          <p:cNvSpPr/>
          <p:nvPr/>
        </p:nvSpPr>
        <p:spPr>
          <a:xfrm>
            <a:off x="793790" y="4094917"/>
            <a:ext cx="7390090" cy="1088708"/>
          </a:xfrm>
          <a:prstGeom prst="rect">
            <a:avLst/>
          </a:prstGeom>
          <a:noFill/>
          <a:ln/>
        </p:spPr>
        <p:txBody>
          <a:bodyPr wrap="square" lIns="0" tIns="0" rIns="0" bIns="0" rtlCol="0" anchor="t"/>
          <a:lstStyle/>
          <a:p>
            <a:pPr marL="0" indent="0" algn="just">
              <a:lnSpc>
                <a:spcPts val="2850"/>
              </a:lnSpc>
              <a:buNone/>
            </a:pPr>
            <a:r>
              <a:rPr lang="en-US" sz="2400" dirty="0" err="1">
                <a:latin typeface="Calibri (Body)"/>
                <a:ea typeface="Open Sans" panose="020B0604020202020204" pitchFamily="34" charset="0"/>
                <a:cs typeface="Open Sans" panose="020B0604020202020204" pitchFamily="34" charset="0"/>
              </a:rPr>
              <a:t>SportswearXpress</a:t>
            </a:r>
            <a:r>
              <a:rPr lang="en-US" sz="2400" dirty="0">
                <a:latin typeface="Calibri (Body)"/>
                <a:ea typeface="Open Sans" panose="020B0604020202020204" pitchFamily="34" charset="0"/>
                <a:cs typeface="Open Sans" panose="020B0604020202020204" pitchFamily="34" charset="0"/>
              </a:rPr>
              <a:t> is an AI-driven e-commerce platform designed to enhance sportswear customization. It integrates AI-powered design tools, dynamic pricing, and real-time communication to streamline the process. Traditional platforms lack intelligent guidance, leading to errors and inefficiencies. Our platform provides precise customization, instant pricing updates, and seamless interaction between buyers and sellers, ensuring a better user experience</a:t>
            </a:r>
            <a:endParaRPr lang="en-US" sz="2000" dirty="0">
              <a:latin typeface="Calibri (Body)"/>
              <a:ea typeface="Open Sans" panose="020B0604020202020204" pitchFamily="34" charset="0"/>
              <a:cs typeface="Open Sans" panose="020B0604020202020204" pitchFamily="34" charset="0"/>
            </a:endParaRPr>
          </a:p>
        </p:txBody>
      </p:sp>
      <p:sp>
        <p:nvSpPr>
          <p:cNvPr id="4" name="Text 2">
            <a:extLst>
              <a:ext uri="{FF2B5EF4-FFF2-40B4-BE49-F238E27FC236}">
                <a16:creationId xmlns:a16="http://schemas.microsoft.com/office/drawing/2014/main" id="{C8C4C395-52DA-4D55-B4D3-5F85C768656C}"/>
              </a:ext>
            </a:extLst>
          </p:cNvPr>
          <p:cNvSpPr/>
          <p:nvPr/>
        </p:nvSpPr>
        <p:spPr>
          <a:xfrm>
            <a:off x="7599521" y="4094917"/>
            <a:ext cx="6244709" cy="1088708"/>
          </a:xfrm>
          <a:prstGeom prst="rect">
            <a:avLst/>
          </a:prstGeom>
          <a:noFill/>
          <a:ln/>
        </p:spPr>
        <p:txBody>
          <a:bodyPr wrap="square" lIns="0" tIns="0" rIns="0" bIns="0" rtlCol="0" anchor="t"/>
          <a:lstStyle/>
          <a:p>
            <a:pPr marL="0" indent="0">
              <a:lnSpc>
                <a:spcPts val="2850"/>
              </a:lnSpc>
              <a:buNone/>
            </a:pPr>
            <a:endParaRPr lang="en-US" sz="1750" dirty="0"/>
          </a:p>
        </p:txBody>
      </p:sp>
      <p:sp>
        <p:nvSpPr>
          <p:cNvPr id="5" name="Rectangle: Rounded Corners 4">
            <a:extLst>
              <a:ext uri="{FF2B5EF4-FFF2-40B4-BE49-F238E27FC236}">
                <a16:creationId xmlns:a16="http://schemas.microsoft.com/office/drawing/2014/main" id="{885288DF-C731-419D-8BCB-74456BE76994}"/>
              </a:ext>
            </a:extLst>
          </p:cNvPr>
          <p:cNvSpPr/>
          <p:nvPr/>
        </p:nvSpPr>
        <p:spPr>
          <a:xfrm>
            <a:off x="12461359" y="7775057"/>
            <a:ext cx="2083981" cy="36682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err="1">
                <a:ln w="6600">
                  <a:solidFill>
                    <a:schemeClr val="accent2"/>
                  </a:solidFill>
                  <a:prstDash val="solid"/>
                </a:ln>
                <a:solidFill>
                  <a:srgbClr val="FFFFFF"/>
                </a:solidFill>
                <a:effectLst>
                  <a:outerShdw dist="38100" dir="2700000" algn="tl" rotWithShape="0">
                    <a:schemeClr val="accent2"/>
                  </a:outerShdw>
                </a:effectLst>
              </a:rPr>
              <a:t>SportWearXpress</a:t>
            </a: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Picture 6">
            <a:extLst>
              <a:ext uri="{FF2B5EF4-FFF2-40B4-BE49-F238E27FC236}">
                <a16:creationId xmlns:a16="http://schemas.microsoft.com/office/drawing/2014/main" id="{C049D011-618A-4431-B000-32209362A149}"/>
              </a:ext>
            </a:extLst>
          </p:cNvPr>
          <p:cNvPicPr>
            <a:picLocks noChangeAspect="1"/>
          </p:cNvPicPr>
          <p:nvPr/>
        </p:nvPicPr>
        <p:blipFill>
          <a:blip r:embed="rId2"/>
          <a:stretch>
            <a:fillRect/>
          </a:stretch>
        </p:blipFill>
        <p:spPr>
          <a:xfrm>
            <a:off x="0" y="250471"/>
            <a:ext cx="14630400" cy="2591432"/>
          </a:xfrm>
          <a:prstGeom prst="rect">
            <a:avLst/>
          </a:prstGeom>
        </p:spPr>
      </p:pic>
    </p:spTree>
    <p:extLst>
      <p:ext uri="{BB962C8B-B14F-4D97-AF65-F5344CB8AC3E}">
        <p14:creationId xmlns:p14="http://schemas.microsoft.com/office/powerpoint/2010/main" val="365620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5635" y="3386138"/>
            <a:ext cx="6765727" cy="708779"/>
          </a:xfrm>
          <a:prstGeom prst="rect">
            <a:avLst/>
          </a:prstGeom>
          <a:noFill/>
          <a:ln/>
        </p:spPr>
        <p:txBody>
          <a:bodyPr wrap="none" lIns="0" tIns="0" rIns="0" bIns="0" rtlCol="0" anchor="t"/>
          <a:lstStyle/>
          <a:p>
            <a:pPr marL="0" indent="0">
              <a:lnSpc>
                <a:spcPts val="5550"/>
              </a:lnSpc>
              <a:buNone/>
            </a:pPr>
            <a:r>
              <a:rPr lang="en-US" sz="4450" b="1" dirty="0">
                <a:solidFill>
                  <a:srgbClr val="403C4E"/>
                </a:solidFill>
                <a:latin typeface="Merriweather Bold" pitchFamily="34" charset="0"/>
                <a:ea typeface="Merriweather Bold" pitchFamily="34" charset="-122"/>
                <a:cs typeface="Merriweather Bold" pitchFamily="34" charset="-120"/>
              </a:rPr>
              <a:t>PROBLEM STATEMENT</a:t>
            </a:r>
            <a:endParaRPr lang="en-US" sz="4450" dirty="0"/>
          </a:p>
        </p:txBody>
      </p:sp>
      <p:sp>
        <p:nvSpPr>
          <p:cNvPr id="3" name="Text 1"/>
          <p:cNvSpPr/>
          <p:nvPr/>
        </p:nvSpPr>
        <p:spPr>
          <a:xfrm>
            <a:off x="793790" y="4094917"/>
            <a:ext cx="13139380" cy="1088708"/>
          </a:xfrm>
          <a:prstGeom prst="rect">
            <a:avLst/>
          </a:prstGeom>
          <a:noFill/>
          <a:ln/>
        </p:spPr>
        <p:txBody>
          <a:bodyPr wrap="square" lIns="0" tIns="0" rIns="0" bIns="0" rtlCol="0" anchor="t"/>
          <a:lstStyle/>
          <a:p>
            <a:pPr algn="just">
              <a:lnSpc>
                <a:spcPts val="4498"/>
              </a:lnSpc>
              <a:spcBef>
                <a:spcPct val="0"/>
              </a:spcBef>
            </a:pPr>
            <a:r>
              <a:rPr lang="en-US" sz="3200" dirty="0"/>
              <a:t>Existing sportswear customization platforms lack AI-powered tools, dynamic pricing, and real-time communication, leading to inefficiencies and poor user experience. Customers struggle with inaccurate designs, unpredictable costs, and miscommunication with sellers. </a:t>
            </a:r>
            <a:r>
              <a:rPr lang="en-US" sz="3200" dirty="0" err="1"/>
              <a:t>SportswearXpress</a:t>
            </a:r>
            <a:r>
              <a:rPr lang="en-US" sz="3200" dirty="0"/>
              <a:t> solves these issues by offering intelligent design assistance, automated pricing based on complexity, and seamless buyer-seller interaction.</a:t>
            </a:r>
            <a:endParaRPr lang="en-US" sz="3200" dirty="0">
              <a:solidFill>
                <a:srgbClr val="231F20"/>
              </a:solidFill>
              <a:latin typeface="Times New Roman"/>
            </a:endParaRPr>
          </a:p>
        </p:txBody>
      </p:sp>
      <p:sp>
        <p:nvSpPr>
          <p:cNvPr id="4" name="Text 2"/>
          <p:cNvSpPr/>
          <p:nvPr/>
        </p:nvSpPr>
        <p:spPr>
          <a:xfrm>
            <a:off x="7599521" y="4094917"/>
            <a:ext cx="6244709" cy="1088708"/>
          </a:xfrm>
          <a:prstGeom prst="rect">
            <a:avLst/>
          </a:prstGeom>
          <a:noFill/>
          <a:ln/>
        </p:spPr>
        <p:txBody>
          <a:bodyPr wrap="square" lIns="0" tIns="0" rIns="0" bIns="0" rtlCol="0" anchor="t"/>
          <a:lstStyle/>
          <a:p>
            <a:pPr marL="0" indent="0">
              <a:lnSpc>
                <a:spcPts val="2850"/>
              </a:lnSpc>
              <a:buNone/>
            </a:pPr>
            <a:endParaRPr lang="en-US" sz="1750" dirty="0"/>
          </a:p>
        </p:txBody>
      </p:sp>
      <p:sp>
        <p:nvSpPr>
          <p:cNvPr id="5" name="Rectangle: Rounded Corners 4">
            <a:extLst>
              <a:ext uri="{FF2B5EF4-FFF2-40B4-BE49-F238E27FC236}">
                <a16:creationId xmlns:a16="http://schemas.microsoft.com/office/drawing/2014/main" id="{D0729470-AA14-4A5A-95DA-605C69930DA7}"/>
              </a:ext>
            </a:extLst>
          </p:cNvPr>
          <p:cNvSpPr/>
          <p:nvPr/>
        </p:nvSpPr>
        <p:spPr>
          <a:xfrm>
            <a:off x="12461359" y="7775057"/>
            <a:ext cx="2083981" cy="36682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err="1">
                <a:ln w="6600">
                  <a:solidFill>
                    <a:schemeClr val="accent2"/>
                  </a:solidFill>
                  <a:prstDash val="solid"/>
                </a:ln>
                <a:solidFill>
                  <a:srgbClr val="FFFFFF"/>
                </a:solidFill>
                <a:effectLst>
                  <a:outerShdw dist="38100" dir="2700000" algn="tl" rotWithShape="0">
                    <a:schemeClr val="accent2"/>
                  </a:outerShdw>
                </a:effectLst>
              </a:rPr>
              <a:t>SportWearXpress</a:t>
            </a: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Picture 6">
            <a:extLst>
              <a:ext uri="{FF2B5EF4-FFF2-40B4-BE49-F238E27FC236}">
                <a16:creationId xmlns:a16="http://schemas.microsoft.com/office/drawing/2014/main" id="{F876B780-F12F-418F-9C44-57B219A7B509}"/>
              </a:ext>
            </a:extLst>
          </p:cNvPr>
          <p:cNvPicPr>
            <a:picLocks noChangeAspect="1"/>
          </p:cNvPicPr>
          <p:nvPr/>
        </p:nvPicPr>
        <p:blipFill>
          <a:blip r:embed="rId3"/>
          <a:stretch>
            <a:fillRect/>
          </a:stretch>
        </p:blipFill>
        <p:spPr>
          <a:xfrm>
            <a:off x="0" y="1"/>
            <a:ext cx="14630400" cy="28419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9990DB5-F3E1-4833-B16A-E1B55266E2E1}"/>
              </a:ext>
            </a:extLst>
          </p:cNvPr>
          <p:cNvPicPr>
            <a:picLocks noChangeAspect="1"/>
          </p:cNvPicPr>
          <p:nvPr/>
        </p:nvPicPr>
        <p:blipFill>
          <a:blip r:embed="rId2"/>
          <a:stretch>
            <a:fillRect/>
          </a:stretch>
        </p:blipFill>
        <p:spPr>
          <a:xfrm>
            <a:off x="0" y="0"/>
            <a:ext cx="5486400" cy="8229600"/>
          </a:xfrm>
          <a:prstGeom prst="rect">
            <a:avLst/>
          </a:prstGeom>
        </p:spPr>
      </p:pic>
      <p:sp>
        <p:nvSpPr>
          <p:cNvPr id="3" name="Text 0">
            <a:extLst>
              <a:ext uri="{FF2B5EF4-FFF2-40B4-BE49-F238E27FC236}">
                <a16:creationId xmlns:a16="http://schemas.microsoft.com/office/drawing/2014/main" id="{C11C6F52-C82E-4526-9891-64855D8CF8D5}"/>
              </a:ext>
            </a:extLst>
          </p:cNvPr>
          <p:cNvSpPr/>
          <p:nvPr/>
        </p:nvSpPr>
        <p:spPr>
          <a:xfrm>
            <a:off x="6280190" y="929640"/>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403C4E"/>
                </a:solidFill>
                <a:latin typeface="Merriweather Bold" pitchFamily="34" charset="0"/>
                <a:ea typeface="Merriweather Bold" pitchFamily="34" charset="-122"/>
                <a:cs typeface="Merriweather Bold" pitchFamily="34" charset="-120"/>
              </a:rPr>
              <a:t>PURPOSE AND OBJECTIVES</a:t>
            </a:r>
            <a:endParaRPr lang="en-US" sz="4450" dirty="0"/>
          </a:p>
        </p:txBody>
      </p:sp>
      <p:sp>
        <p:nvSpPr>
          <p:cNvPr id="9" name="Text 6">
            <a:extLst>
              <a:ext uri="{FF2B5EF4-FFF2-40B4-BE49-F238E27FC236}">
                <a16:creationId xmlns:a16="http://schemas.microsoft.com/office/drawing/2014/main" id="{983AD7F9-AD61-496F-B893-0DECED546723}"/>
              </a:ext>
            </a:extLst>
          </p:cNvPr>
          <p:cNvSpPr/>
          <p:nvPr/>
        </p:nvSpPr>
        <p:spPr>
          <a:xfrm>
            <a:off x="10324028" y="3027521"/>
            <a:ext cx="205859" cy="340281"/>
          </a:xfrm>
          <a:prstGeom prst="rect">
            <a:avLst/>
          </a:prstGeom>
          <a:noFill/>
          <a:ln/>
        </p:spPr>
        <p:txBody>
          <a:bodyPr wrap="none" lIns="0" tIns="0" rIns="0" bIns="0" rtlCol="0" anchor="t"/>
          <a:lstStyle/>
          <a:p>
            <a:pPr marL="0" indent="0" algn="ctr">
              <a:lnSpc>
                <a:spcPts val="2650"/>
              </a:lnSpc>
              <a:buNone/>
            </a:pPr>
            <a:endParaRPr lang="en-US" sz="2650" dirty="0"/>
          </a:p>
        </p:txBody>
      </p:sp>
      <p:sp>
        <p:nvSpPr>
          <p:cNvPr id="16" name="Rectangle: Rounded Corners 15">
            <a:extLst>
              <a:ext uri="{FF2B5EF4-FFF2-40B4-BE49-F238E27FC236}">
                <a16:creationId xmlns:a16="http://schemas.microsoft.com/office/drawing/2014/main" id="{96FB9B02-FE16-498F-A463-EA92B4693423}"/>
              </a:ext>
            </a:extLst>
          </p:cNvPr>
          <p:cNvSpPr/>
          <p:nvPr/>
        </p:nvSpPr>
        <p:spPr>
          <a:xfrm>
            <a:off x="12461359" y="7775057"/>
            <a:ext cx="2083981" cy="36682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err="1">
                <a:ln w="6600">
                  <a:solidFill>
                    <a:schemeClr val="accent2"/>
                  </a:solidFill>
                  <a:prstDash val="solid"/>
                </a:ln>
                <a:solidFill>
                  <a:srgbClr val="FFFFFF"/>
                </a:solidFill>
                <a:effectLst>
                  <a:outerShdw dist="38100" dir="2700000" algn="tl" rotWithShape="0">
                    <a:schemeClr val="accent2"/>
                  </a:outerShdw>
                </a:effectLst>
              </a:rPr>
              <a:t>SportWearXpress</a:t>
            </a: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18" name="TextBox 17">
            <a:extLst>
              <a:ext uri="{FF2B5EF4-FFF2-40B4-BE49-F238E27FC236}">
                <a16:creationId xmlns:a16="http://schemas.microsoft.com/office/drawing/2014/main" id="{B08D628E-411E-4476-A578-CDBCF2C087DF}"/>
              </a:ext>
            </a:extLst>
          </p:cNvPr>
          <p:cNvSpPr txBox="1"/>
          <p:nvPr/>
        </p:nvSpPr>
        <p:spPr>
          <a:xfrm>
            <a:off x="6188149" y="2655082"/>
            <a:ext cx="7315200" cy="4832092"/>
          </a:xfrm>
          <a:prstGeom prst="rect">
            <a:avLst/>
          </a:prstGeom>
          <a:noFill/>
        </p:spPr>
        <p:txBody>
          <a:bodyPr wrap="square">
            <a:spAutoFit/>
          </a:bodyPr>
          <a:lstStyle/>
          <a:p>
            <a:pPr algn="just"/>
            <a:r>
              <a:rPr lang="en-US" sz="2800" b="1" spc="363" dirty="0">
                <a:solidFill>
                  <a:srgbClr val="231F20"/>
                </a:solidFill>
                <a:latin typeface="Calibri "/>
              </a:rPr>
              <a:t>Purpose</a:t>
            </a:r>
            <a:r>
              <a:rPr lang="en-US" sz="2800" b="1" spc="363" dirty="0">
                <a:solidFill>
                  <a:srgbClr val="231F20"/>
                </a:solidFill>
                <a:latin typeface="Times New Roman"/>
              </a:rPr>
              <a:t>: </a:t>
            </a:r>
            <a:r>
              <a:rPr lang="en-US" sz="2800" dirty="0" err="1"/>
              <a:t>SportswearXpress</a:t>
            </a:r>
            <a:r>
              <a:rPr lang="en-US" sz="2800" dirty="0"/>
              <a:t> aims to revolutionize sportswear customization by integrating AI-driven design tools, real-time communication, and dynamic pricing. The platform enhances user experience by providing precise design assistance, seamless interaction between buyers and sellers, and automated pricing based on customization complexity. Our goal is to create a scalable, efficient, and user-friendly solution that sets a new standard in personalized sportswear shopping</a:t>
            </a:r>
          </a:p>
        </p:txBody>
      </p:sp>
    </p:spTree>
    <p:extLst>
      <p:ext uri="{BB962C8B-B14F-4D97-AF65-F5344CB8AC3E}">
        <p14:creationId xmlns:p14="http://schemas.microsoft.com/office/powerpoint/2010/main" val="3619772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743230" y="1509118"/>
            <a:ext cx="7556421" cy="1417558"/>
          </a:xfrm>
          <a:prstGeom prst="rect">
            <a:avLst/>
          </a:prstGeom>
          <a:noFill/>
          <a:ln/>
        </p:spPr>
        <p:txBody>
          <a:bodyPr wrap="square" lIns="0" tIns="0" rIns="0" bIns="0" rtlCol="0" anchor="t"/>
          <a:lstStyle/>
          <a:p>
            <a:pPr marL="0" indent="0">
              <a:lnSpc>
                <a:spcPts val="5550"/>
              </a:lnSpc>
              <a:buNone/>
            </a:pPr>
            <a:r>
              <a:rPr lang="en-US" sz="4800" b="1" dirty="0">
                <a:solidFill>
                  <a:srgbClr val="403C4E"/>
                </a:solidFill>
                <a:latin typeface="Merriweather Bold" pitchFamily="34" charset="0"/>
                <a:ea typeface="Merriweather Bold" pitchFamily="34" charset="-122"/>
                <a:cs typeface="Merriweather Bold" pitchFamily="34" charset="-120"/>
              </a:rPr>
              <a:t>OBJECTIVES</a:t>
            </a:r>
            <a:endParaRPr lang="en-US" sz="4800" dirty="0"/>
          </a:p>
        </p:txBody>
      </p:sp>
      <p:sp>
        <p:nvSpPr>
          <p:cNvPr id="4" name="Shape 1"/>
          <p:cNvSpPr/>
          <p:nvPr/>
        </p:nvSpPr>
        <p:spPr>
          <a:xfrm>
            <a:off x="6280190" y="2942511"/>
            <a:ext cx="510302" cy="510302"/>
          </a:xfrm>
          <a:prstGeom prst="roundRect">
            <a:avLst>
              <a:gd name="adj" fmla="val 18669"/>
            </a:avLst>
          </a:prstGeom>
          <a:solidFill>
            <a:srgbClr val="FFD8CC"/>
          </a:solidFill>
          <a:ln w="7620">
            <a:solidFill>
              <a:srgbClr val="E5BEB2"/>
            </a:solidFill>
            <a:prstDash val="solid"/>
          </a:ln>
        </p:spPr>
      </p:sp>
      <p:sp>
        <p:nvSpPr>
          <p:cNvPr id="5" name="Text 2"/>
          <p:cNvSpPr/>
          <p:nvPr/>
        </p:nvSpPr>
        <p:spPr>
          <a:xfrm>
            <a:off x="6457355" y="3027521"/>
            <a:ext cx="155853" cy="340281"/>
          </a:xfrm>
          <a:prstGeom prst="rect">
            <a:avLst/>
          </a:prstGeom>
          <a:noFill/>
          <a:ln/>
        </p:spPr>
        <p:txBody>
          <a:bodyPr wrap="none" lIns="0" tIns="0" rIns="0" bIns="0" rtlCol="0" anchor="t"/>
          <a:lstStyle/>
          <a:p>
            <a:pPr marL="0" indent="0" algn="ctr">
              <a:lnSpc>
                <a:spcPts val="2650"/>
              </a:lnSpc>
              <a:buNone/>
            </a:pPr>
            <a:r>
              <a:rPr lang="en-US" sz="2650" b="1" dirty="0">
                <a:solidFill>
                  <a:srgbClr val="403C4E"/>
                </a:solidFill>
                <a:latin typeface="Merriweather Bold" pitchFamily="34" charset="0"/>
                <a:ea typeface="Merriweather Bold" pitchFamily="34" charset="-122"/>
                <a:cs typeface="Merriweather Bold" pitchFamily="34" charset="-120"/>
              </a:rPr>
              <a:t>1</a:t>
            </a:r>
            <a:endParaRPr lang="en-US" sz="2650" dirty="0"/>
          </a:p>
        </p:txBody>
      </p:sp>
      <p:sp>
        <p:nvSpPr>
          <p:cNvPr id="6" name="Text 3"/>
          <p:cNvSpPr/>
          <p:nvPr/>
        </p:nvSpPr>
        <p:spPr>
          <a:xfrm>
            <a:off x="7017306" y="2942511"/>
            <a:ext cx="2927747" cy="708660"/>
          </a:xfrm>
          <a:prstGeom prst="rect">
            <a:avLst/>
          </a:prstGeom>
          <a:noFill/>
          <a:ln/>
        </p:spPr>
        <p:txBody>
          <a:bodyPr wrap="square" lIns="0" tIns="0" rIns="0" bIns="0" rtlCol="0" anchor="t"/>
          <a:lstStyle/>
          <a:p>
            <a:pPr>
              <a:lnSpc>
                <a:spcPts val="3245"/>
              </a:lnSpc>
            </a:pPr>
            <a:r>
              <a:rPr lang="en-US" sz="2000" b="1" spc="230" dirty="0">
                <a:solidFill>
                  <a:srgbClr val="231F20"/>
                </a:solidFill>
                <a:latin typeface="Merriweather Bold"/>
              </a:rPr>
              <a:t>AI-powered design assistance for precise customization</a:t>
            </a:r>
          </a:p>
        </p:txBody>
      </p:sp>
      <p:sp>
        <p:nvSpPr>
          <p:cNvPr id="7" name="Text 4"/>
          <p:cNvSpPr/>
          <p:nvPr/>
        </p:nvSpPr>
        <p:spPr>
          <a:xfrm>
            <a:off x="7017306" y="3787259"/>
            <a:ext cx="2927747" cy="1814513"/>
          </a:xfrm>
          <a:prstGeom prst="rect">
            <a:avLst/>
          </a:prstGeom>
          <a:noFill/>
          <a:ln/>
        </p:spPr>
        <p:txBody>
          <a:bodyPr wrap="square" lIns="0" tIns="0" rIns="0" bIns="0" rtlCol="0" anchor="t"/>
          <a:lstStyle/>
          <a:p>
            <a:pPr marL="0" indent="0">
              <a:lnSpc>
                <a:spcPts val="2850"/>
              </a:lnSpc>
              <a:buNone/>
            </a:pPr>
            <a:endParaRPr lang="en-US" sz="1750" dirty="0"/>
          </a:p>
        </p:txBody>
      </p:sp>
      <p:sp>
        <p:nvSpPr>
          <p:cNvPr id="8" name="Shape 5"/>
          <p:cNvSpPr/>
          <p:nvPr/>
        </p:nvSpPr>
        <p:spPr>
          <a:xfrm>
            <a:off x="10171867" y="2942511"/>
            <a:ext cx="510302" cy="510302"/>
          </a:xfrm>
          <a:prstGeom prst="roundRect">
            <a:avLst>
              <a:gd name="adj" fmla="val 18669"/>
            </a:avLst>
          </a:prstGeom>
          <a:solidFill>
            <a:srgbClr val="FFD8CC"/>
          </a:solidFill>
          <a:ln w="7620">
            <a:solidFill>
              <a:srgbClr val="E5BEB2"/>
            </a:solidFill>
            <a:prstDash val="solid"/>
          </a:ln>
        </p:spPr>
      </p:sp>
      <p:sp>
        <p:nvSpPr>
          <p:cNvPr id="9" name="Text 6"/>
          <p:cNvSpPr/>
          <p:nvPr/>
        </p:nvSpPr>
        <p:spPr>
          <a:xfrm>
            <a:off x="10324028" y="3027521"/>
            <a:ext cx="205859" cy="340281"/>
          </a:xfrm>
          <a:prstGeom prst="rect">
            <a:avLst/>
          </a:prstGeom>
          <a:noFill/>
          <a:ln/>
        </p:spPr>
        <p:txBody>
          <a:bodyPr wrap="none" lIns="0" tIns="0" rIns="0" bIns="0" rtlCol="0" anchor="t"/>
          <a:lstStyle/>
          <a:p>
            <a:pPr marL="0" indent="0" algn="ctr">
              <a:lnSpc>
                <a:spcPts val="2650"/>
              </a:lnSpc>
              <a:buNone/>
            </a:pPr>
            <a:r>
              <a:rPr lang="en-US" sz="2650" b="1" dirty="0">
                <a:solidFill>
                  <a:srgbClr val="403C4E"/>
                </a:solidFill>
                <a:latin typeface="Merriweather Bold" pitchFamily="34" charset="0"/>
                <a:ea typeface="Merriweather Bold" pitchFamily="34" charset="-122"/>
                <a:cs typeface="Merriweather Bold" pitchFamily="34" charset="-120"/>
              </a:rPr>
              <a:t>2</a:t>
            </a:r>
            <a:endParaRPr lang="en-US" sz="2650" dirty="0"/>
          </a:p>
        </p:txBody>
      </p:sp>
      <p:sp>
        <p:nvSpPr>
          <p:cNvPr id="10" name="Text 7"/>
          <p:cNvSpPr/>
          <p:nvPr/>
        </p:nvSpPr>
        <p:spPr>
          <a:xfrm>
            <a:off x="10908983" y="2942511"/>
            <a:ext cx="2927747" cy="708660"/>
          </a:xfrm>
          <a:prstGeom prst="rect">
            <a:avLst/>
          </a:prstGeom>
          <a:noFill/>
          <a:ln/>
        </p:spPr>
        <p:txBody>
          <a:bodyPr wrap="square" lIns="0" tIns="0" rIns="0" bIns="0" rtlCol="0" anchor="t"/>
          <a:lstStyle/>
          <a:p>
            <a:pPr>
              <a:lnSpc>
                <a:spcPts val="3245"/>
              </a:lnSpc>
            </a:pPr>
            <a:r>
              <a:rPr lang="en-US" sz="2000" spc="230" dirty="0">
                <a:solidFill>
                  <a:srgbClr val="231F20"/>
                </a:solidFill>
                <a:latin typeface="Times New Roman Bold"/>
              </a:rPr>
              <a:t>Dynamic pricing based on design complexity</a:t>
            </a:r>
          </a:p>
        </p:txBody>
      </p:sp>
      <p:sp>
        <p:nvSpPr>
          <p:cNvPr id="11" name="Text 8"/>
          <p:cNvSpPr/>
          <p:nvPr/>
        </p:nvSpPr>
        <p:spPr>
          <a:xfrm>
            <a:off x="10908983" y="3787259"/>
            <a:ext cx="2927747" cy="1814513"/>
          </a:xfrm>
          <a:prstGeom prst="rect">
            <a:avLst/>
          </a:prstGeom>
          <a:noFill/>
          <a:ln/>
        </p:spPr>
        <p:txBody>
          <a:bodyPr wrap="square" lIns="0" tIns="0" rIns="0" bIns="0" rtlCol="0" anchor="t"/>
          <a:lstStyle/>
          <a:p>
            <a:pPr marL="0" indent="0">
              <a:lnSpc>
                <a:spcPts val="2850"/>
              </a:lnSpc>
              <a:buNone/>
            </a:pPr>
            <a:endParaRPr lang="en-US" sz="1750" dirty="0"/>
          </a:p>
        </p:txBody>
      </p:sp>
      <p:sp>
        <p:nvSpPr>
          <p:cNvPr id="12" name="Shape 9"/>
          <p:cNvSpPr/>
          <p:nvPr/>
        </p:nvSpPr>
        <p:spPr>
          <a:xfrm>
            <a:off x="6280190" y="5057795"/>
            <a:ext cx="510302" cy="510302"/>
          </a:xfrm>
          <a:prstGeom prst="roundRect">
            <a:avLst>
              <a:gd name="adj" fmla="val 18669"/>
            </a:avLst>
          </a:prstGeom>
          <a:solidFill>
            <a:srgbClr val="FFD8CC"/>
          </a:solidFill>
          <a:ln w="7620">
            <a:solidFill>
              <a:srgbClr val="E5BEB2"/>
            </a:solidFill>
            <a:prstDash val="solid"/>
          </a:ln>
        </p:spPr>
      </p:sp>
      <p:sp>
        <p:nvSpPr>
          <p:cNvPr id="13" name="Text 10"/>
          <p:cNvSpPr/>
          <p:nvPr/>
        </p:nvSpPr>
        <p:spPr>
          <a:xfrm>
            <a:off x="6439019" y="5142805"/>
            <a:ext cx="192643" cy="340281"/>
          </a:xfrm>
          <a:prstGeom prst="rect">
            <a:avLst/>
          </a:prstGeom>
          <a:noFill/>
          <a:ln/>
        </p:spPr>
        <p:txBody>
          <a:bodyPr wrap="none" lIns="0" tIns="0" rIns="0" bIns="0" rtlCol="0" anchor="t"/>
          <a:lstStyle/>
          <a:p>
            <a:pPr marL="0" indent="0" algn="ctr">
              <a:lnSpc>
                <a:spcPts val="2650"/>
              </a:lnSpc>
              <a:buNone/>
            </a:pPr>
            <a:r>
              <a:rPr lang="en-US" sz="2650" b="1" dirty="0">
                <a:solidFill>
                  <a:srgbClr val="403C4E"/>
                </a:solidFill>
                <a:latin typeface="Merriweather Bold" pitchFamily="34" charset="0"/>
                <a:ea typeface="Merriweather Bold" pitchFamily="34" charset="-122"/>
                <a:cs typeface="Merriweather Bold" pitchFamily="34" charset="-120"/>
              </a:rPr>
              <a:t>3</a:t>
            </a:r>
            <a:endParaRPr lang="en-US" sz="2650" dirty="0"/>
          </a:p>
        </p:txBody>
      </p:sp>
      <p:sp>
        <p:nvSpPr>
          <p:cNvPr id="14" name="Text 11"/>
          <p:cNvSpPr/>
          <p:nvPr/>
        </p:nvSpPr>
        <p:spPr>
          <a:xfrm>
            <a:off x="7017306" y="5057794"/>
            <a:ext cx="3512581" cy="1814513"/>
          </a:xfrm>
          <a:prstGeom prst="rect">
            <a:avLst/>
          </a:prstGeom>
          <a:noFill/>
          <a:ln/>
        </p:spPr>
        <p:txBody>
          <a:bodyPr wrap="none" lIns="0" tIns="0" rIns="0" bIns="0" rtlCol="0" anchor="t"/>
          <a:lstStyle/>
          <a:p>
            <a:pPr marL="0" marR="0" lvl="0" indent="0" defTabSz="914400" rtl="0" eaLnBrk="1" fontAlgn="auto" latinLnBrk="0" hangingPunct="1">
              <a:lnSpc>
                <a:spcPts val="3245"/>
              </a:lnSpc>
              <a:spcBef>
                <a:spcPts val="0"/>
              </a:spcBef>
              <a:spcAft>
                <a:spcPts val="0"/>
              </a:spcAft>
              <a:buClrTx/>
              <a:buSzTx/>
              <a:buFontTx/>
              <a:buNone/>
              <a:tabLst/>
              <a:defRPr/>
            </a:pPr>
            <a:r>
              <a:rPr kumimoji="0" lang="en-US" b="1" i="0" u="none" strike="noStrike" kern="1200" cap="none" spc="230" normalizeH="0" baseline="0" noProof="0" dirty="0">
                <a:ln>
                  <a:noFill/>
                </a:ln>
                <a:solidFill>
                  <a:srgbClr val="231F20"/>
                </a:solidFill>
                <a:effectLst/>
                <a:uLnTx/>
                <a:uFillTx/>
                <a:latin typeface="Merriweather Bold"/>
              </a:rPr>
              <a:t>Real-time communication</a:t>
            </a:r>
          </a:p>
          <a:p>
            <a:pPr marL="0" marR="0" lvl="0" indent="0" defTabSz="914400" rtl="0" eaLnBrk="1" fontAlgn="auto" latinLnBrk="0" hangingPunct="1">
              <a:lnSpc>
                <a:spcPts val="3245"/>
              </a:lnSpc>
              <a:spcBef>
                <a:spcPts val="0"/>
              </a:spcBef>
              <a:spcAft>
                <a:spcPts val="0"/>
              </a:spcAft>
              <a:buClrTx/>
              <a:buSzTx/>
              <a:buFontTx/>
              <a:buNone/>
              <a:tabLst/>
              <a:defRPr/>
            </a:pPr>
            <a:r>
              <a:rPr kumimoji="0" lang="en-US" b="1" i="0" u="none" strike="noStrike" kern="1200" cap="none" spc="230" normalizeH="0" baseline="0" noProof="0" dirty="0">
                <a:ln>
                  <a:noFill/>
                </a:ln>
                <a:solidFill>
                  <a:srgbClr val="231F20"/>
                </a:solidFill>
                <a:effectLst/>
                <a:uLnTx/>
                <a:uFillTx/>
                <a:latin typeface="Merriweather Bold"/>
              </a:rPr>
              <a:t> between </a:t>
            </a:r>
          </a:p>
          <a:p>
            <a:pPr marL="0" marR="0" lvl="0" indent="0" defTabSz="914400" rtl="0" eaLnBrk="1" fontAlgn="auto" latinLnBrk="0" hangingPunct="1">
              <a:lnSpc>
                <a:spcPts val="3245"/>
              </a:lnSpc>
              <a:spcBef>
                <a:spcPts val="0"/>
              </a:spcBef>
              <a:spcAft>
                <a:spcPts val="0"/>
              </a:spcAft>
              <a:buClrTx/>
              <a:buSzTx/>
              <a:buFontTx/>
              <a:buNone/>
              <a:tabLst/>
              <a:defRPr/>
            </a:pPr>
            <a:r>
              <a:rPr kumimoji="0" lang="en-US" b="1" i="0" u="none" strike="noStrike" kern="1200" cap="none" spc="230" normalizeH="0" baseline="0" noProof="0" dirty="0">
                <a:ln>
                  <a:noFill/>
                </a:ln>
                <a:solidFill>
                  <a:srgbClr val="231F20"/>
                </a:solidFill>
                <a:effectLst/>
                <a:uLnTx/>
                <a:uFillTx/>
                <a:latin typeface="Merriweather Bold"/>
              </a:rPr>
              <a:t>buyers and sellers</a:t>
            </a:r>
          </a:p>
        </p:txBody>
      </p:sp>
      <p:sp>
        <p:nvSpPr>
          <p:cNvPr id="15" name="Text 12"/>
          <p:cNvSpPr/>
          <p:nvPr/>
        </p:nvSpPr>
        <p:spPr>
          <a:xfrm>
            <a:off x="10059234" y="6692866"/>
            <a:ext cx="3079910" cy="725805"/>
          </a:xfrm>
          <a:prstGeom prst="rect">
            <a:avLst/>
          </a:prstGeom>
          <a:noFill/>
          <a:ln/>
        </p:spPr>
        <p:txBody>
          <a:bodyPr wrap="square" lIns="0" tIns="0" rIns="0" bIns="0" rtlCol="0" anchor="t"/>
          <a:lstStyle/>
          <a:p>
            <a:pPr marL="0" marR="0" lvl="0" indent="0" algn="ctr" defTabSz="914400" rtl="0" eaLnBrk="1" fontAlgn="auto" latinLnBrk="0" hangingPunct="1">
              <a:lnSpc>
                <a:spcPts val="3245"/>
              </a:lnSpc>
              <a:spcBef>
                <a:spcPts val="0"/>
              </a:spcBef>
              <a:spcAft>
                <a:spcPts val="0"/>
              </a:spcAft>
              <a:buClrTx/>
              <a:buSzTx/>
              <a:buFontTx/>
              <a:buNone/>
              <a:tabLst/>
              <a:defRPr/>
            </a:pPr>
            <a:r>
              <a:rPr lang="en-US" sz="2000" b="1" spc="230" dirty="0">
                <a:solidFill>
                  <a:srgbClr val="231F20"/>
                </a:solidFill>
                <a:latin typeface="Merriweather Bold"/>
              </a:rPr>
              <a:t>Reduce</a:t>
            </a:r>
            <a:r>
              <a:rPr kumimoji="0" lang="en-US" sz="2000" b="1" i="0" u="none" strike="noStrike" kern="1200" cap="none" spc="230" normalizeH="0" baseline="0" noProof="0" dirty="0">
                <a:ln>
                  <a:noFill/>
                </a:ln>
                <a:solidFill>
                  <a:srgbClr val="231F20"/>
                </a:solidFill>
                <a:effectLst/>
                <a:uLnTx/>
                <a:uFillTx/>
                <a:latin typeface="Merriweather Bold"/>
              </a:rPr>
              <a:t> vendor </a:t>
            </a:r>
          </a:p>
          <a:p>
            <a:pPr marL="0" marR="0" lvl="0" indent="0" algn="ctr" defTabSz="914400" rtl="0" eaLnBrk="1" fontAlgn="auto" latinLnBrk="0" hangingPunct="1">
              <a:lnSpc>
                <a:spcPts val="3245"/>
              </a:lnSpc>
              <a:spcBef>
                <a:spcPts val="0"/>
              </a:spcBef>
              <a:spcAft>
                <a:spcPts val="0"/>
              </a:spcAft>
              <a:buClrTx/>
              <a:buSzTx/>
              <a:buFontTx/>
              <a:buNone/>
              <a:tabLst/>
              <a:defRPr/>
            </a:pPr>
            <a:r>
              <a:rPr kumimoji="0" lang="en-US" sz="2000" b="1" i="0" u="none" strike="noStrike" kern="1200" cap="none" spc="230" normalizeH="0" baseline="0" noProof="0" dirty="0">
                <a:ln>
                  <a:noFill/>
                </a:ln>
                <a:solidFill>
                  <a:srgbClr val="231F20"/>
                </a:solidFill>
                <a:effectLst/>
                <a:uLnTx/>
                <a:uFillTx/>
                <a:latin typeface="Merriweather Bold"/>
              </a:rPr>
              <a:t>distraction </a:t>
            </a:r>
          </a:p>
        </p:txBody>
      </p:sp>
      <p:sp>
        <p:nvSpPr>
          <p:cNvPr id="16" name="Rectangle: Rounded Corners 15">
            <a:extLst>
              <a:ext uri="{FF2B5EF4-FFF2-40B4-BE49-F238E27FC236}">
                <a16:creationId xmlns:a16="http://schemas.microsoft.com/office/drawing/2014/main" id="{28AA4480-5F2D-43F1-B72C-186568DDE039}"/>
              </a:ext>
            </a:extLst>
          </p:cNvPr>
          <p:cNvSpPr/>
          <p:nvPr/>
        </p:nvSpPr>
        <p:spPr>
          <a:xfrm>
            <a:off x="12461359" y="7775057"/>
            <a:ext cx="2083981" cy="36682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err="1">
                <a:ln w="6600">
                  <a:solidFill>
                    <a:schemeClr val="accent2"/>
                  </a:solidFill>
                  <a:prstDash val="solid"/>
                </a:ln>
                <a:solidFill>
                  <a:srgbClr val="FFFFFF"/>
                </a:solidFill>
                <a:effectLst>
                  <a:outerShdw dist="38100" dir="2700000" algn="tl" rotWithShape="0">
                    <a:schemeClr val="accent2"/>
                  </a:outerShdw>
                </a:effectLst>
              </a:rPr>
              <a:t>SportWearXpress</a:t>
            </a: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18" name="Picture 17">
            <a:extLst>
              <a:ext uri="{FF2B5EF4-FFF2-40B4-BE49-F238E27FC236}">
                <a16:creationId xmlns:a16="http://schemas.microsoft.com/office/drawing/2014/main" id="{E6889699-99CD-456B-9ACD-B5F75AC849C2}"/>
              </a:ext>
            </a:extLst>
          </p:cNvPr>
          <p:cNvPicPr>
            <a:picLocks noChangeAspect="1"/>
          </p:cNvPicPr>
          <p:nvPr/>
        </p:nvPicPr>
        <p:blipFill>
          <a:blip r:embed="rId3"/>
          <a:stretch>
            <a:fillRect/>
          </a:stretch>
        </p:blipFill>
        <p:spPr>
          <a:xfrm>
            <a:off x="0" y="-18456"/>
            <a:ext cx="6094285" cy="8248055"/>
          </a:xfrm>
          <a:prstGeom prst="rect">
            <a:avLst/>
          </a:prstGeom>
        </p:spPr>
      </p:pic>
      <p:sp>
        <p:nvSpPr>
          <p:cNvPr id="19" name="Shape 9">
            <a:extLst>
              <a:ext uri="{FF2B5EF4-FFF2-40B4-BE49-F238E27FC236}">
                <a16:creationId xmlns:a16="http://schemas.microsoft.com/office/drawing/2014/main" id="{A7716B96-87EE-4796-8261-8F5E923BF4A4}"/>
              </a:ext>
            </a:extLst>
          </p:cNvPr>
          <p:cNvSpPr/>
          <p:nvPr/>
        </p:nvSpPr>
        <p:spPr>
          <a:xfrm>
            <a:off x="10973157" y="5010705"/>
            <a:ext cx="510302" cy="510302"/>
          </a:xfrm>
          <a:prstGeom prst="roundRect">
            <a:avLst>
              <a:gd name="adj" fmla="val 18669"/>
            </a:avLst>
          </a:prstGeom>
          <a:solidFill>
            <a:srgbClr val="FFD8CC"/>
          </a:solidFill>
          <a:ln w="7620">
            <a:solidFill>
              <a:srgbClr val="E5BEB2"/>
            </a:solidFill>
            <a:prstDash val="solid"/>
          </a:ln>
        </p:spPr>
      </p:sp>
      <p:sp>
        <p:nvSpPr>
          <p:cNvPr id="20" name="Text 10">
            <a:extLst>
              <a:ext uri="{FF2B5EF4-FFF2-40B4-BE49-F238E27FC236}">
                <a16:creationId xmlns:a16="http://schemas.microsoft.com/office/drawing/2014/main" id="{B3B6CACF-1E4A-4492-891D-D302ED170527}"/>
              </a:ext>
            </a:extLst>
          </p:cNvPr>
          <p:cNvSpPr/>
          <p:nvPr/>
        </p:nvSpPr>
        <p:spPr>
          <a:xfrm>
            <a:off x="11131986" y="5095715"/>
            <a:ext cx="192643" cy="340281"/>
          </a:xfrm>
          <a:prstGeom prst="rect">
            <a:avLst/>
          </a:prstGeom>
          <a:noFill/>
          <a:ln/>
        </p:spPr>
        <p:txBody>
          <a:bodyPr wrap="none" lIns="0" tIns="0" rIns="0" bIns="0" rtlCol="0" anchor="t"/>
          <a:lstStyle/>
          <a:p>
            <a:pPr marL="0" indent="0" algn="ctr">
              <a:lnSpc>
                <a:spcPts val="2650"/>
              </a:lnSpc>
              <a:buNone/>
            </a:pPr>
            <a:r>
              <a:rPr lang="en-US" sz="2650" b="1" dirty="0">
                <a:solidFill>
                  <a:srgbClr val="403C4E"/>
                </a:solidFill>
                <a:latin typeface="Merriweather Bold" pitchFamily="34" charset="0"/>
                <a:ea typeface="Merriweather Bold" pitchFamily="34" charset="-122"/>
                <a:cs typeface="Merriweather Bold" pitchFamily="34" charset="-120"/>
              </a:rPr>
              <a:t>4</a:t>
            </a:r>
            <a:endParaRPr lang="en-US" sz="2650" dirty="0"/>
          </a:p>
        </p:txBody>
      </p:sp>
      <p:sp>
        <p:nvSpPr>
          <p:cNvPr id="22" name="TextBox 21">
            <a:extLst>
              <a:ext uri="{FF2B5EF4-FFF2-40B4-BE49-F238E27FC236}">
                <a16:creationId xmlns:a16="http://schemas.microsoft.com/office/drawing/2014/main" id="{7CC08519-4A3A-4ADB-A49D-B30C20C38C66}"/>
              </a:ext>
            </a:extLst>
          </p:cNvPr>
          <p:cNvSpPr txBox="1"/>
          <p:nvPr/>
        </p:nvSpPr>
        <p:spPr>
          <a:xfrm>
            <a:off x="9095423" y="5008632"/>
            <a:ext cx="7652384" cy="864596"/>
          </a:xfrm>
          <a:prstGeom prst="rect">
            <a:avLst/>
          </a:prstGeom>
          <a:noFill/>
        </p:spPr>
        <p:txBody>
          <a:bodyPr wrap="square">
            <a:spAutoFit/>
          </a:bodyPr>
          <a:lstStyle/>
          <a:p>
            <a:pPr marL="0" marR="0" lvl="0" indent="0" algn="ctr" defTabSz="914400" rtl="0" eaLnBrk="1" fontAlgn="auto" latinLnBrk="0" hangingPunct="1">
              <a:lnSpc>
                <a:spcPts val="3245"/>
              </a:lnSpc>
              <a:spcBef>
                <a:spcPts val="0"/>
              </a:spcBef>
              <a:spcAft>
                <a:spcPts val="0"/>
              </a:spcAft>
              <a:buClrTx/>
              <a:buSzTx/>
              <a:buFontTx/>
              <a:buNone/>
              <a:tabLst/>
              <a:defRPr/>
            </a:pPr>
            <a:r>
              <a:rPr kumimoji="0" lang="en-US" sz="1800" b="1" i="0" u="none" strike="noStrike" kern="1200" cap="none" spc="230" normalizeH="0" baseline="0" noProof="0" dirty="0">
                <a:ln>
                  <a:noFill/>
                </a:ln>
                <a:solidFill>
                  <a:srgbClr val="231F20"/>
                </a:solidFill>
                <a:effectLst/>
                <a:uLnTx/>
                <a:uFillTx/>
                <a:latin typeface="Merriweather Bold"/>
              </a:rPr>
              <a:t>Increase Customer</a:t>
            </a:r>
          </a:p>
          <a:p>
            <a:pPr marL="0" marR="0" lvl="0" indent="0" algn="ctr" defTabSz="914400" rtl="0" eaLnBrk="1" fontAlgn="auto" latinLnBrk="0" hangingPunct="1">
              <a:lnSpc>
                <a:spcPts val="3245"/>
              </a:lnSpc>
              <a:spcBef>
                <a:spcPts val="0"/>
              </a:spcBef>
              <a:spcAft>
                <a:spcPts val="0"/>
              </a:spcAft>
              <a:buClrTx/>
              <a:buSzTx/>
              <a:buFontTx/>
              <a:buNone/>
              <a:tabLst/>
              <a:defRPr/>
            </a:pPr>
            <a:r>
              <a:rPr kumimoji="0" lang="en-US" sz="1800" b="1" i="0" u="none" strike="noStrike" kern="1200" cap="none" spc="230" normalizeH="0" baseline="0" noProof="0" dirty="0">
                <a:ln>
                  <a:noFill/>
                </a:ln>
                <a:solidFill>
                  <a:srgbClr val="231F20"/>
                </a:solidFill>
                <a:effectLst/>
                <a:uLnTx/>
                <a:uFillTx/>
                <a:latin typeface="Merriweather Bold"/>
              </a:rPr>
              <a:t> Satisfaction</a:t>
            </a:r>
          </a:p>
        </p:txBody>
      </p:sp>
      <p:sp>
        <p:nvSpPr>
          <p:cNvPr id="23" name="Shape 9">
            <a:extLst>
              <a:ext uri="{FF2B5EF4-FFF2-40B4-BE49-F238E27FC236}">
                <a16:creationId xmlns:a16="http://schemas.microsoft.com/office/drawing/2014/main" id="{832C30E0-5642-4E68-AACD-3F17477849A4}"/>
              </a:ext>
            </a:extLst>
          </p:cNvPr>
          <p:cNvSpPr/>
          <p:nvPr/>
        </p:nvSpPr>
        <p:spPr>
          <a:xfrm>
            <a:off x="9804084" y="6716945"/>
            <a:ext cx="510302" cy="510302"/>
          </a:xfrm>
          <a:prstGeom prst="roundRect">
            <a:avLst>
              <a:gd name="adj" fmla="val 18669"/>
            </a:avLst>
          </a:prstGeom>
          <a:solidFill>
            <a:srgbClr val="FFD8CC"/>
          </a:solidFill>
          <a:ln w="7620">
            <a:solidFill>
              <a:srgbClr val="E5BEB2"/>
            </a:solidFill>
            <a:prstDash val="solid"/>
          </a:ln>
        </p:spPr>
      </p:sp>
      <p:sp>
        <p:nvSpPr>
          <p:cNvPr id="24" name="Text 10">
            <a:extLst>
              <a:ext uri="{FF2B5EF4-FFF2-40B4-BE49-F238E27FC236}">
                <a16:creationId xmlns:a16="http://schemas.microsoft.com/office/drawing/2014/main" id="{20440CA6-FCDC-451C-ABD1-EB8A1D80C2AA}"/>
              </a:ext>
            </a:extLst>
          </p:cNvPr>
          <p:cNvSpPr/>
          <p:nvPr/>
        </p:nvSpPr>
        <p:spPr>
          <a:xfrm>
            <a:off x="9962913" y="6801955"/>
            <a:ext cx="192643" cy="340281"/>
          </a:xfrm>
          <a:prstGeom prst="rect">
            <a:avLst/>
          </a:prstGeom>
          <a:noFill/>
          <a:ln/>
        </p:spPr>
        <p:txBody>
          <a:bodyPr wrap="none" lIns="0" tIns="0" rIns="0" bIns="0" rtlCol="0" anchor="t"/>
          <a:lstStyle/>
          <a:p>
            <a:pPr marL="0" indent="0" algn="ctr">
              <a:lnSpc>
                <a:spcPts val="2650"/>
              </a:lnSpc>
              <a:buNone/>
            </a:pPr>
            <a:r>
              <a:rPr lang="en-US" sz="2650" b="1" dirty="0">
                <a:solidFill>
                  <a:srgbClr val="403C4E"/>
                </a:solidFill>
                <a:latin typeface="Merriweather Bold" pitchFamily="34" charset="0"/>
                <a:ea typeface="Merriweather Bold" pitchFamily="34" charset="-122"/>
              </a:rPr>
              <a:t>5</a:t>
            </a:r>
            <a:endParaRPr lang="en-US" sz="2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4" name="Shape 4">
            <a:extLst>
              <a:ext uri="{FF2B5EF4-FFF2-40B4-BE49-F238E27FC236}">
                <a16:creationId xmlns:a16="http://schemas.microsoft.com/office/drawing/2014/main" id="{15B1D0F9-AC3D-4EC6-A996-C550A5545300}"/>
              </a:ext>
            </a:extLst>
          </p:cNvPr>
          <p:cNvSpPr/>
          <p:nvPr/>
        </p:nvSpPr>
        <p:spPr>
          <a:xfrm>
            <a:off x="745093" y="6686349"/>
            <a:ext cx="4196358" cy="1088708"/>
          </a:xfrm>
          <a:prstGeom prst="roundRect">
            <a:avLst>
              <a:gd name="adj" fmla="val 4652"/>
            </a:avLst>
          </a:prstGeom>
          <a:solidFill>
            <a:srgbClr val="FFD8CC"/>
          </a:solidFill>
          <a:ln w="7620">
            <a:solidFill>
              <a:srgbClr val="E5BEB2"/>
            </a:solidFill>
            <a:prstDash val="solid"/>
          </a:ln>
        </p:spPr>
        <p:txBody>
          <a:bodyPr/>
          <a:lstStyle/>
          <a:p>
            <a:endParaRPr lang="en-US" dirty="0">
              <a:latin typeface="Merriweather Bold" panose="00000800000000000000" pitchFamily="2" charset="0"/>
            </a:endParaRPr>
          </a:p>
          <a:p>
            <a:r>
              <a:rPr lang="en-US" sz="3200" dirty="0"/>
              <a:t>4)</a:t>
            </a:r>
            <a:r>
              <a:rPr lang="en-US" sz="2800" dirty="0"/>
              <a:t> </a:t>
            </a:r>
            <a:r>
              <a:rPr lang="en-US" sz="2400" dirty="0">
                <a:ea typeface="Petrona"/>
              </a:rPr>
              <a:t>Dedicated User Interfaces</a:t>
            </a:r>
            <a:endParaRPr lang="en-US" sz="1600" dirty="0">
              <a:ea typeface="Petrona"/>
            </a:endParaRPr>
          </a:p>
          <a:p>
            <a:endParaRPr lang="en-US" dirty="0"/>
          </a:p>
        </p:txBody>
      </p:sp>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199031"/>
            <a:ext cx="13042821" cy="1417558"/>
          </a:xfrm>
          <a:prstGeom prst="rect">
            <a:avLst/>
          </a:prstGeom>
          <a:noFill/>
          <a:ln/>
        </p:spPr>
        <p:txBody>
          <a:bodyPr wrap="square" lIns="0" tIns="0" rIns="0" bIns="0" rtlCol="0" anchor="t"/>
          <a:lstStyle/>
          <a:p>
            <a:pPr algn="ctr">
              <a:lnSpc>
                <a:spcPts val="13774"/>
              </a:lnSpc>
            </a:pPr>
            <a:r>
              <a:rPr lang="en-US" sz="9600" spc="978" dirty="0">
                <a:solidFill>
                  <a:srgbClr val="231F20"/>
                </a:solidFill>
                <a:latin typeface="Oswald Bold"/>
              </a:rPr>
              <a:t>FEATURES</a:t>
            </a:r>
          </a:p>
        </p:txBody>
      </p:sp>
      <p:sp>
        <p:nvSpPr>
          <p:cNvPr id="4" name="Shape 1"/>
          <p:cNvSpPr/>
          <p:nvPr/>
        </p:nvSpPr>
        <p:spPr>
          <a:xfrm>
            <a:off x="793790" y="5387221"/>
            <a:ext cx="4196358" cy="1088708"/>
          </a:xfrm>
          <a:prstGeom prst="roundRect">
            <a:avLst>
              <a:gd name="adj" fmla="val 4652"/>
            </a:avLst>
          </a:prstGeom>
          <a:solidFill>
            <a:srgbClr val="FFD8CC"/>
          </a:solidFill>
          <a:ln w="7620">
            <a:solidFill>
              <a:srgbClr val="E5BEB2"/>
            </a:solidFill>
            <a:prstDash val="solid"/>
          </a:ln>
        </p:spPr>
      </p:sp>
      <p:sp>
        <p:nvSpPr>
          <p:cNvPr id="5" name="Text 2"/>
          <p:cNvSpPr/>
          <p:nvPr/>
        </p:nvSpPr>
        <p:spPr>
          <a:xfrm>
            <a:off x="931306" y="5870258"/>
            <a:ext cx="2928938" cy="354330"/>
          </a:xfrm>
          <a:prstGeom prst="rect">
            <a:avLst/>
          </a:prstGeom>
          <a:noFill/>
          <a:ln/>
        </p:spPr>
        <p:txBody>
          <a:bodyPr wrap="none" lIns="0" tIns="0" rIns="0" bIns="0" rtlCol="0" anchor="t"/>
          <a:lstStyle/>
          <a:p>
            <a:pPr>
              <a:lnSpc>
                <a:spcPts val="2750"/>
              </a:lnSpc>
            </a:pPr>
            <a:r>
              <a:rPr lang="en-US" sz="3200" b="1" dirty="0">
                <a:solidFill>
                  <a:srgbClr val="403C4E"/>
                </a:solidFill>
                <a:latin typeface="Merriweather Bold" pitchFamily="34" charset="0"/>
                <a:ea typeface="Merriweather Bold" pitchFamily="34" charset="-122"/>
                <a:cs typeface="Merriweather Bold" pitchFamily="34" charset="-120"/>
              </a:rPr>
              <a:t>1) </a:t>
            </a:r>
            <a:r>
              <a:rPr lang="en-US" sz="2800" dirty="0">
                <a:ea typeface="Petrona"/>
              </a:rPr>
              <a:t>AI-Powered Design Tools</a:t>
            </a:r>
            <a:endParaRPr lang="en-US" sz="3200" spc="296" dirty="0">
              <a:solidFill>
                <a:srgbClr val="231F20"/>
              </a:solidFill>
              <a:latin typeface="Times New Roman"/>
              <a:ea typeface="Petrona"/>
            </a:endParaRPr>
          </a:p>
          <a:p>
            <a:pPr marL="0" indent="0">
              <a:lnSpc>
                <a:spcPts val="2750"/>
              </a:lnSpc>
              <a:buNone/>
            </a:pPr>
            <a:endParaRPr lang="en-US" sz="2800" dirty="0"/>
          </a:p>
        </p:txBody>
      </p:sp>
      <p:sp>
        <p:nvSpPr>
          <p:cNvPr id="6" name="Text 3"/>
          <p:cNvSpPr/>
          <p:nvPr/>
        </p:nvSpPr>
        <p:spPr>
          <a:xfrm>
            <a:off x="930830" y="6224588"/>
            <a:ext cx="3727490" cy="1088708"/>
          </a:xfrm>
          <a:prstGeom prst="rect">
            <a:avLst/>
          </a:prstGeom>
          <a:noFill/>
          <a:ln/>
        </p:spPr>
        <p:txBody>
          <a:bodyPr wrap="square" lIns="0" tIns="0" rIns="0" bIns="0" rtlCol="0" anchor="t"/>
          <a:lstStyle/>
          <a:p>
            <a:pPr marL="0" indent="0">
              <a:lnSpc>
                <a:spcPts val="2850"/>
              </a:lnSpc>
              <a:buNone/>
            </a:pPr>
            <a:endParaRPr lang="en-US" sz="1750" dirty="0"/>
          </a:p>
        </p:txBody>
      </p:sp>
      <p:sp>
        <p:nvSpPr>
          <p:cNvPr id="7" name="Shape 4"/>
          <p:cNvSpPr/>
          <p:nvPr/>
        </p:nvSpPr>
        <p:spPr>
          <a:xfrm>
            <a:off x="5216962" y="5387221"/>
            <a:ext cx="3988476" cy="1088708"/>
          </a:xfrm>
          <a:prstGeom prst="roundRect">
            <a:avLst>
              <a:gd name="adj" fmla="val 4652"/>
            </a:avLst>
          </a:prstGeom>
          <a:solidFill>
            <a:srgbClr val="FFD8CC"/>
          </a:solidFill>
          <a:ln w="7620">
            <a:solidFill>
              <a:srgbClr val="E5BEB2"/>
            </a:solidFill>
            <a:prstDash val="solid"/>
          </a:ln>
        </p:spPr>
      </p:sp>
      <p:sp>
        <p:nvSpPr>
          <p:cNvPr id="8" name="Text 5"/>
          <p:cNvSpPr/>
          <p:nvPr/>
        </p:nvSpPr>
        <p:spPr>
          <a:xfrm>
            <a:off x="5451396" y="5798820"/>
            <a:ext cx="2835235" cy="354330"/>
          </a:xfrm>
          <a:prstGeom prst="rect">
            <a:avLst/>
          </a:prstGeom>
          <a:noFill/>
          <a:ln/>
        </p:spPr>
        <p:txBody>
          <a:bodyPr wrap="none" lIns="0" tIns="0" rIns="0" bIns="0" rtlCol="0" anchor="t"/>
          <a:lstStyle/>
          <a:p>
            <a:pPr>
              <a:lnSpc>
                <a:spcPts val="2750"/>
              </a:lnSpc>
            </a:pPr>
            <a:r>
              <a:rPr lang="en-US" sz="3200" b="1" dirty="0">
                <a:solidFill>
                  <a:srgbClr val="403C4E"/>
                </a:solidFill>
                <a:ea typeface="Merriweather Bold" pitchFamily="34" charset="-122"/>
                <a:cs typeface="Merriweather Bold" pitchFamily="34" charset="-120"/>
              </a:rPr>
              <a:t>2</a:t>
            </a:r>
            <a:r>
              <a:rPr lang="en-US" sz="2400" b="1" dirty="0">
                <a:solidFill>
                  <a:srgbClr val="403C4E"/>
                </a:solidFill>
                <a:ea typeface="Merriweather Bold" pitchFamily="34" charset="-122"/>
                <a:cs typeface="Merriweather Bold" pitchFamily="34" charset="-120"/>
              </a:rPr>
              <a:t>) </a:t>
            </a:r>
            <a:r>
              <a:rPr lang="en-US" b="1" spc="296" dirty="0">
                <a:solidFill>
                  <a:srgbClr val="231F20"/>
                </a:solidFill>
              </a:rPr>
              <a:t>Real-Time Communication</a:t>
            </a:r>
            <a:endParaRPr lang="en-US" sz="2400" b="1" spc="296" dirty="0">
              <a:solidFill>
                <a:srgbClr val="231F20"/>
              </a:solidFill>
            </a:endParaRPr>
          </a:p>
          <a:p>
            <a:pPr>
              <a:lnSpc>
                <a:spcPts val="2750"/>
              </a:lnSpc>
            </a:pPr>
            <a:endParaRPr lang="en-US" sz="2400" spc="296" dirty="0">
              <a:solidFill>
                <a:srgbClr val="231F20"/>
              </a:solidFill>
              <a:latin typeface="Times New Roman"/>
            </a:endParaRPr>
          </a:p>
        </p:txBody>
      </p:sp>
      <p:sp>
        <p:nvSpPr>
          <p:cNvPr id="9" name="Text 6"/>
          <p:cNvSpPr/>
          <p:nvPr/>
        </p:nvSpPr>
        <p:spPr>
          <a:xfrm>
            <a:off x="5451396" y="6112073"/>
            <a:ext cx="3727490" cy="1088708"/>
          </a:xfrm>
          <a:prstGeom prst="rect">
            <a:avLst/>
          </a:prstGeom>
          <a:noFill/>
          <a:ln/>
        </p:spPr>
        <p:txBody>
          <a:bodyPr wrap="square" lIns="0" tIns="0" rIns="0" bIns="0" rtlCol="0" anchor="t"/>
          <a:lstStyle/>
          <a:p>
            <a:pPr marL="0" indent="0">
              <a:lnSpc>
                <a:spcPts val="2850"/>
              </a:lnSpc>
              <a:buNone/>
            </a:pPr>
            <a:endParaRPr lang="en-US" sz="1750" dirty="0"/>
          </a:p>
        </p:txBody>
      </p:sp>
      <p:sp>
        <p:nvSpPr>
          <p:cNvPr id="10" name="Shape 7"/>
          <p:cNvSpPr/>
          <p:nvPr/>
        </p:nvSpPr>
        <p:spPr>
          <a:xfrm>
            <a:off x="9432252" y="5431631"/>
            <a:ext cx="4196358" cy="1088708"/>
          </a:xfrm>
          <a:prstGeom prst="roundRect">
            <a:avLst>
              <a:gd name="adj" fmla="val 4652"/>
            </a:avLst>
          </a:prstGeom>
          <a:solidFill>
            <a:srgbClr val="FFD8CC"/>
          </a:solidFill>
          <a:ln w="7620">
            <a:solidFill>
              <a:srgbClr val="E5BEB2"/>
            </a:solidFill>
            <a:prstDash val="solid"/>
          </a:ln>
        </p:spPr>
      </p:sp>
      <p:sp>
        <p:nvSpPr>
          <p:cNvPr id="11" name="Text 8"/>
          <p:cNvSpPr/>
          <p:nvPr/>
        </p:nvSpPr>
        <p:spPr>
          <a:xfrm>
            <a:off x="9874568" y="5798820"/>
            <a:ext cx="3292793" cy="354330"/>
          </a:xfrm>
          <a:prstGeom prst="rect">
            <a:avLst/>
          </a:prstGeom>
          <a:noFill/>
          <a:ln/>
        </p:spPr>
        <p:txBody>
          <a:bodyPr wrap="none" lIns="0" tIns="0" rIns="0" bIns="0" rtlCol="0" anchor="t"/>
          <a:lstStyle/>
          <a:p>
            <a:pPr>
              <a:lnSpc>
                <a:spcPts val="2750"/>
              </a:lnSpc>
            </a:pPr>
            <a:r>
              <a:rPr lang="en-US" sz="2400" b="1" dirty="0">
                <a:solidFill>
                  <a:srgbClr val="403C4E"/>
                </a:solidFill>
                <a:latin typeface="Merriweather Bold" pitchFamily="34" charset="0"/>
                <a:ea typeface="Merriweather Bold" pitchFamily="34" charset="-122"/>
                <a:cs typeface="Merriweather Bold" pitchFamily="34" charset="-120"/>
              </a:rPr>
              <a:t>3) </a:t>
            </a:r>
            <a:r>
              <a:rPr lang="en-US" sz="2400" dirty="0"/>
              <a:t>AI-Powered Design Tools</a:t>
            </a:r>
            <a:endParaRPr lang="en-US" sz="2400" spc="296" dirty="0">
              <a:solidFill>
                <a:srgbClr val="231F20"/>
              </a:solidFill>
              <a:latin typeface="Times New Roman"/>
            </a:endParaRPr>
          </a:p>
        </p:txBody>
      </p:sp>
      <p:sp>
        <p:nvSpPr>
          <p:cNvPr id="12" name="Text 9"/>
          <p:cNvSpPr/>
          <p:nvPr/>
        </p:nvSpPr>
        <p:spPr>
          <a:xfrm>
            <a:off x="9874568" y="6112073"/>
            <a:ext cx="3727490" cy="1088708"/>
          </a:xfrm>
          <a:prstGeom prst="rect">
            <a:avLst/>
          </a:prstGeom>
          <a:noFill/>
          <a:ln/>
        </p:spPr>
        <p:txBody>
          <a:bodyPr wrap="square" lIns="0" tIns="0" rIns="0" bIns="0" rtlCol="0" anchor="t"/>
          <a:lstStyle/>
          <a:p>
            <a:pPr marL="0" indent="0">
              <a:lnSpc>
                <a:spcPts val="2850"/>
              </a:lnSpc>
              <a:buNone/>
            </a:pPr>
            <a:endParaRPr lang="en-US" sz="1750" dirty="0"/>
          </a:p>
        </p:txBody>
      </p:sp>
      <p:sp>
        <p:nvSpPr>
          <p:cNvPr id="13" name="Rectangle: Rounded Corners 12">
            <a:extLst>
              <a:ext uri="{FF2B5EF4-FFF2-40B4-BE49-F238E27FC236}">
                <a16:creationId xmlns:a16="http://schemas.microsoft.com/office/drawing/2014/main" id="{09AA7B07-3233-4B51-A955-3D11AC6C3989}"/>
              </a:ext>
            </a:extLst>
          </p:cNvPr>
          <p:cNvSpPr/>
          <p:nvPr/>
        </p:nvSpPr>
        <p:spPr>
          <a:xfrm>
            <a:off x="12461359" y="7775057"/>
            <a:ext cx="2083981" cy="36682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err="1">
                <a:ln w="6600">
                  <a:solidFill>
                    <a:schemeClr val="accent2"/>
                  </a:solidFill>
                  <a:prstDash val="solid"/>
                </a:ln>
                <a:solidFill>
                  <a:srgbClr val="FFFFFF"/>
                </a:solidFill>
                <a:effectLst>
                  <a:outerShdw dist="38100" dir="2700000" algn="tl" rotWithShape="0">
                    <a:schemeClr val="accent2"/>
                  </a:outerShdw>
                </a:effectLst>
              </a:rPr>
              <a:t>SportWearXpress</a:t>
            </a: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15" name="Shape 4">
            <a:extLst>
              <a:ext uri="{FF2B5EF4-FFF2-40B4-BE49-F238E27FC236}">
                <a16:creationId xmlns:a16="http://schemas.microsoft.com/office/drawing/2014/main" id="{5A4BF4CC-48C3-47B4-BEA9-5A60F57ED9D9}"/>
              </a:ext>
            </a:extLst>
          </p:cNvPr>
          <p:cNvSpPr/>
          <p:nvPr/>
        </p:nvSpPr>
        <p:spPr>
          <a:xfrm>
            <a:off x="5224582" y="6628329"/>
            <a:ext cx="3988476" cy="1088708"/>
          </a:xfrm>
          <a:prstGeom prst="roundRect">
            <a:avLst>
              <a:gd name="adj" fmla="val 4652"/>
            </a:avLst>
          </a:prstGeom>
          <a:solidFill>
            <a:srgbClr val="FFD8CC"/>
          </a:solidFill>
          <a:ln w="7620">
            <a:solidFill>
              <a:srgbClr val="E5BEB2"/>
            </a:solidFill>
            <a:prstDash val="solid"/>
          </a:ln>
        </p:spPr>
        <p:txBody>
          <a:bodyPr/>
          <a:lstStyle/>
          <a:p>
            <a:endParaRPr lang="en-US" dirty="0"/>
          </a:p>
          <a:p>
            <a:r>
              <a:rPr lang="en-US" sz="3200" b="1" dirty="0"/>
              <a:t>5) </a:t>
            </a:r>
            <a:r>
              <a:rPr lang="en-US" sz="2000" dirty="0">
                <a:solidFill>
                  <a:srgbClr val="272525"/>
                </a:solidFill>
                <a:ea typeface="Petrona" pitchFamily="34" charset="-122"/>
                <a:cs typeface="Times New Roman" panose="02020603050405020304" pitchFamily="18" charset="0"/>
              </a:rPr>
              <a:t>Admin Dashboard &amp; Analytics</a:t>
            </a:r>
            <a:endParaRPr lang="en-US" sz="3200" spc="296" dirty="0">
              <a:solidFill>
                <a:srgbClr val="231F20"/>
              </a:solidFill>
              <a:cs typeface="Times New Roman" panose="02020603050405020304" pitchFamily="18" charset="0"/>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CDA459-035F-47B0-B65C-B47E96ED8E3E}"/>
              </a:ext>
            </a:extLst>
          </p:cNvPr>
          <p:cNvSpPr txBox="1"/>
          <p:nvPr/>
        </p:nvSpPr>
        <p:spPr>
          <a:xfrm>
            <a:off x="4594258" y="316194"/>
            <a:ext cx="1133856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USER AUTHENTICATION</a:t>
            </a:r>
          </a:p>
        </p:txBody>
      </p:sp>
      <p:pic>
        <p:nvPicPr>
          <p:cNvPr id="5" name="Picture 4">
            <a:extLst>
              <a:ext uri="{FF2B5EF4-FFF2-40B4-BE49-F238E27FC236}">
                <a16:creationId xmlns:a16="http://schemas.microsoft.com/office/drawing/2014/main" id="{6E875AEC-4261-43DA-8DF3-E88D50783A62}"/>
              </a:ext>
            </a:extLst>
          </p:cNvPr>
          <p:cNvPicPr>
            <a:picLocks noChangeAspect="1"/>
          </p:cNvPicPr>
          <p:nvPr/>
        </p:nvPicPr>
        <p:blipFill>
          <a:blip r:embed="rId2"/>
          <a:stretch>
            <a:fillRect/>
          </a:stretch>
        </p:blipFill>
        <p:spPr>
          <a:xfrm>
            <a:off x="2994660" y="1520190"/>
            <a:ext cx="8606790" cy="5863590"/>
          </a:xfrm>
          <a:prstGeom prst="rect">
            <a:avLst/>
          </a:prstGeom>
        </p:spPr>
      </p:pic>
    </p:spTree>
    <p:extLst>
      <p:ext uri="{BB962C8B-B14F-4D97-AF65-F5344CB8AC3E}">
        <p14:creationId xmlns:p14="http://schemas.microsoft.com/office/powerpoint/2010/main" val="2595889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E25D91-95EA-488A-81C6-96FA5F0068AC}"/>
              </a:ext>
            </a:extLst>
          </p:cNvPr>
          <p:cNvPicPr>
            <a:picLocks noChangeAspect="1"/>
          </p:cNvPicPr>
          <p:nvPr/>
        </p:nvPicPr>
        <p:blipFill>
          <a:blip r:embed="rId2"/>
          <a:stretch>
            <a:fillRect/>
          </a:stretch>
        </p:blipFill>
        <p:spPr>
          <a:xfrm>
            <a:off x="2937510" y="1587500"/>
            <a:ext cx="8126730" cy="5899150"/>
          </a:xfrm>
          <a:prstGeom prst="rect">
            <a:avLst/>
          </a:prstGeom>
        </p:spPr>
      </p:pic>
      <p:sp>
        <p:nvSpPr>
          <p:cNvPr id="5" name="TextBox 4">
            <a:extLst>
              <a:ext uri="{FF2B5EF4-FFF2-40B4-BE49-F238E27FC236}">
                <a16:creationId xmlns:a16="http://schemas.microsoft.com/office/drawing/2014/main" id="{CB46C937-DACD-44D4-872D-79330230BB98}"/>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ADD TO CART</a:t>
            </a:r>
          </a:p>
        </p:txBody>
      </p:sp>
    </p:spTree>
    <p:extLst>
      <p:ext uri="{BB962C8B-B14F-4D97-AF65-F5344CB8AC3E}">
        <p14:creationId xmlns:p14="http://schemas.microsoft.com/office/powerpoint/2010/main" val="1476397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67F08D-FBED-4B73-AFC8-58116EAAC2E9}"/>
              </a:ext>
            </a:extLst>
          </p:cNvPr>
          <p:cNvPicPr>
            <a:picLocks noChangeAspect="1"/>
          </p:cNvPicPr>
          <p:nvPr/>
        </p:nvPicPr>
        <p:blipFill>
          <a:blip r:embed="rId2"/>
          <a:stretch>
            <a:fillRect/>
          </a:stretch>
        </p:blipFill>
        <p:spPr>
          <a:xfrm>
            <a:off x="2034540" y="1474470"/>
            <a:ext cx="9715499" cy="6057900"/>
          </a:xfrm>
          <a:prstGeom prst="rect">
            <a:avLst/>
          </a:prstGeom>
        </p:spPr>
      </p:pic>
      <p:sp>
        <p:nvSpPr>
          <p:cNvPr id="4" name="TextBox 3">
            <a:extLst>
              <a:ext uri="{FF2B5EF4-FFF2-40B4-BE49-F238E27FC236}">
                <a16:creationId xmlns:a16="http://schemas.microsoft.com/office/drawing/2014/main" id="{FA4FF9D4-0F4B-468D-8FFB-922AB21D95F2}"/>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Product Customization</a:t>
            </a:r>
          </a:p>
        </p:txBody>
      </p:sp>
    </p:spTree>
    <p:extLst>
      <p:ext uri="{BB962C8B-B14F-4D97-AF65-F5344CB8AC3E}">
        <p14:creationId xmlns:p14="http://schemas.microsoft.com/office/powerpoint/2010/main" val="2022110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BCBE76-6E83-4145-880F-73EBCC7202DC}"/>
              </a:ext>
            </a:extLst>
          </p:cNvPr>
          <p:cNvPicPr>
            <a:picLocks noChangeAspect="1"/>
          </p:cNvPicPr>
          <p:nvPr/>
        </p:nvPicPr>
        <p:blipFill>
          <a:blip r:embed="rId2"/>
          <a:stretch>
            <a:fillRect/>
          </a:stretch>
        </p:blipFill>
        <p:spPr>
          <a:xfrm>
            <a:off x="2057400" y="1676400"/>
            <a:ext cx="9544049" cy="5524500"/>
          </a:xfrm>
          <a:prstGeom prst="rect">
            <a:avLst/>
          </a:prstGeom>
        </p:spPr>
      </p:pic>
      <p:sp>
        <p:nvSpPr>
          <p:cNvPr id="4" name="TextBox 3">
            <a:extLst>
              <a:ext uri="{FF2B5EF4-FFF2-40B4-BE49-F238E27FC236}">
                <a16:creationId xmlns:a16="http://schemas.microsoft.com/office/drawing/2014/main" id="{4ECB1E1F-95B9-4035-9702-DFADDD1DC7A0}"/>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Save Product Design </a:t>
            </a:r>
          </a:p>
        </p:txBody>
      </p:sp>
    </p:spTree>
    <p:extLst>
      <p:ext uri="{BB962C8B-B14F-4D97-AF65-F5344CB8AC3E}">
        <p14:creationId xmlns:p14="http://schemas.microsoft.com/office/powerpoint/2010/main" val="1634504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117FC1-AF77-491D-851C-CA08C0FBA89E}"/>
              </a:ext>
            </a:extLst>
          </p:cNvPr>
          <p:cNvPicPr>
            <a:picLocks noChangeAspect="1"/>
          </p:cNvPicPr>
          <p:nvPr/>
        </p:nvPicPr>
        <p:blipFill>
          <a:blip r:embed="rId2"/>
          <a:stretch>
            <a:fillRect/>
          </a:stretch>
        </p:blipFill>
        <p:spPr>
          <a:xfrm>
            <a:off x="2514600" y="1440181"/>
            <a:ext cx="8881110" cy="5806440"/>
          </a:xfrm>
          <a:prstGeom prst="rect">
            <a:avLst/>
          </a:prstGeom>
        </p:spPr>
      </p:pic>
      <p:sp>
        <p:nvSpPr>
          <p:cNvPr id="6" name="TextBox 5">
            <a:extLst>
              <a:ext uri="{FF2B5EF4-FFF2-40B4-BE49-F238E27FC236}">
                <a16:creationId xmlns:a16="http://schemas.microsoft.com/office/drawing/2014/main" id="{3F9302E8-8A05-47E5-B595-C5077BC87602}"/>
              </a:ext>
            </a:extLst>
          </p:cNvPr>
          <p:cNvSpPr txBox="1"/>
          <p:nvPr/>
        </p:nvSpPr>
        <p:spPr>
          <a:xfrm>
            <a:off x="42672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Adjusting Pricing </a:t>
            </a:r>
          </a:p>
        </p:txBody>
      </p:sp>
    </p:spTree>
    <p:extLst>
      <p:ext uri="{BB962C8B-B14F-4D97-AF65-F5344CB8AC3E}">
        <p14:creationId xmlns:p14="http://schemas.microsoft.com/office/powerpoint/2010/main" val="3781427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8E0ED4-5092-4554-86C5-02B6FEA81462}"/>
              </a:ext>
            </a:extLst>
          </p:cNvPr>
          <p:cNvPicPr>
            <a:picLocks noChangeAspect="1"/>
          </p:cNvPicPr>
          <p:nvPr/>
        </p:nvPicPr>
        <p:blipFill>
          <a:blip r:embed="rId2"/>
          <a:stretch>
            <a:fillRect/>
          </a:stretch>
        </p:blipFill>
        <p:spPr>
          <a:xfrm>
            <a:off x="1634490" y="1703070"/>
            <a:ext cx="10321290" cy="5852159"/>
          </a:xfrm>
          <a:prstGeom prst="rect">
            <a:avLst/>
          </a:prstGeom>
        </p:spPr>
      </p:pic>
      <p:sp>
        <p:nvSpPr>
          <p:cNvPr id="4" name="TextBox 3">
            <a:extLst>
              <a:ext uri="{FF2B5EF4-FFF2-40B4-BE49-F238E27FC236}">
                <a16:creationId xmlns:a16="http://schemas.microsoft.com/office/drawing/2014/main" id="{E9C75B90-3937-467A-833A-384F13D7070F}"/>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Place Order</a:t>
            </a:r>
          </a:p>
        </p:txBody>
      </p:sp>
    </p:spTree>
    <p:extLst>
      <p:ext uri="{BB962C8B-B14F-4D97-AF65-F5344CB8AC3E}">
        <p14:creationId xmlns:p14="http://schemas.microsoft.com/office/powerpoint/2010/main" val="3148955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C6F270-9014-4A5E-B9B2-F48E0C36D7CD}"/>
              </a:ext>
            </a:extLst>
          </p:cNvPr>
          <p:cNvPicPr>
            <a:picLocks noChangeAspect="1"/>
          </p:cNvPicPr>
          <p:nvPr/>
        </p:nvPicPr>
        <p:blipFill>
          <a:blip r:embed="rId2"/>
          <a:stretch>
            <a:fillRect/>
          </a:stretch>
        </p:blipFill>
        <p:spPr>
          <a:xfrm>
            <a:off x="1920240" y="1680210"/>
            <a:ext cx="10618470" cy="5955030"/>
          </a:xfrm>
          <a:prstGeom prst="rect">
            <a:avLst/>
          </a:prstGeom>
        </p:spPr>
      </p:pic>
      <p:sp>
        <p:nvSpPr>
          <p:cNvPr id="4" name="TextBox 3">
            <a:extLst>
              <a:ext uri="{FF2B5EF4-FFF2-40B4-BE49-F238E27FC236}">
                <a16:creationId xmlns:a16="http://schemas.microsoft.com/office/drawing/2014/main" id="{920F0AD5-6EAA-4C52-BF55-B80E34A7041D}"/>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Analytics and Reporting </a:t>
            </a:r>
          </a:p>
        </p:txBody>
      </p:sp>
    </p:spTree>
    <p:extLst>
      <p:ext uri="{BB962C8B-B14F-4D97-AF65-F5344CB8AC3E}">
        <p14:creationId xmlns:p14="http://schemas.microsoft.com/office/powerpoint/2010/main" val="593938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3C068B-41D8-43AD-95F5-617E2A3D1EFE}"/>
              </a:ext>
            </a:extLst>
          </p:cNvPr>
          <p:cNvPicPr>
            <a:picLocks noChangeAspect="1"/>
          </p:cNvPicPr>
          <p:nvPr/>
        </p:nvPicPr>
        <p:blipFill>
          <a:blip r:embed="rId2"/>
          <a:stretch>
            <a:fillRect/>
          </a:stretch>
        </p:blipFill>
        <p:spPr>
          <a:xfrm>
            <a:off x="2377440" y="1680211"/>
            <a:ext cx="10229849" cy="5749290"/>
          </a:xfrm>
          <a:prstGeom prst="rect">
            <a:avLst/>
          </a:prstGeom>
        </p:spPr>
      </p:pic>
      <p:sp>
        <p:nvSpPr>
          <p:cNvPr id="4" name="TextBox 3">
            <a:extLst>
              <a:ext uri="{FF2B5EF4-FFF2-40B4-BE49-F238E27FC236}">
                <a16:creationId xmlns:a16="http://schemas.microsoft.com/office/drawing/2014/main" id="{6126E5E4-DC55-4EF7-AA97-AFCAED1B0FB5}"/>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Cancel Order</a:t>
            </a:r>
          </a:p>
        </p:txBody>
      </p:sp>
    </p:spTree>
    <p:extLst>
      <p:ext uri="{BB962C8B-B14F-4D97-AF65-F5344CB8AC3E}">
        <p14:creationId xmlns:p14="http://schemas.microsoft.com/office/powerpoint/2010/main" val="3776923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C59C07-46B9-43FA-9D4C-E34A6B304BE9}"/>
              </a:ext>
            </a:extLst>
          </p:cNvPr>
          <p:cNvPicPr>
            <a:picLocks noChangeAspect="1"/>
          </p:cNvPicPr>
          <p:nvPr/>
        </p:nvPicPr>
        <p:blipFill>
          <a:blip r:embed="rId2"/>
          <a:stretch>
            <a:fillRect/>
          </a:stretch>
        </p:blipFill>
        <p:spPr>
          <a:xfrm>
            <a:off x="1657350" y="1394460"/>
            <a:ext cx="10001249" cy="5623560"/>
          </a:xfrm>
          <a:prstGeom prst="rect">
            <a:avLst/>
          </a:prstGeom>
        </p:spPr>
      </p:pic>
      <p:sp>
        <p:nvSpPr>
          <p:cNvPr id="6" name="TextBox 5">
            <a:extLst>
              <a:ext uri="{FF2B5EF4-FFF2-40B4-BE49-F238E27FC236}">
                <a16:creationId xmlns:a16="http://schemas.microsoft.com/office/drawing/2014/main" id="{2F247881-CAA4-40C8-BDEE-AAF39B0D2A75}"/>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Edit Profile</a:t>
            </a:r>
          </a:p>
        </p:txBody>
      </p:sp>
    </p:spTree>
    <p:extLst>
      <p:ext uri="{BB962C8B-B14F-4D97-AF65-F5344CB8AC3E}">
        <p14:creationId xmlns:p14="http://schemas.microsoft.com/office/powerpoint/2010/main" val="1390992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81D63E-1A4F-483F-802E-948BA1C33812}"/>
              </a:ext>
            </a:extLst>
          </p:cNvPr>
          <p:cNvPicPr>
            <a:picLocks noChangeAspect="1"/>
          </p:cNvPicPr>
          <p:nvPr/>
        </p:nvPicPr>
        <p:blipFill>
          <a:blip r:embed="rId2"/>
          <a:stretch>
            <a:fillRect/>
          </a:stretch>
        </p:blipFill>
        <p:spPr>
          <a:xfrm>
            <a:off x="2183130" y="1851661"/>
            <a:ext cx="9509760" cy="5292090"/>
          </a:xfrm>
          <a:prstGeom prst="rect">
            <a:avLst/>
          </a:prstGeom>
        </p:spPr>
      </p:pic>
      <p:sp>
        <p:nvSpPr>
          <p:cNvPr id="4" name="TextBox 3">
            <a:extLst>
              <a:ext uri="{FF2B5EF4-FFF2-40B4-BE49-F238E27FC236}">
                <a16:creationId xmlns:a16="http://schemas.microsoft.com/office/drawing/2014/main" id="{DFF4D020-EAF5-465C-B11A-CA26F9A2EAF7}"/>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Remove From Cart</a:t>
            </a:r>
          </a:p>
        </p:txBody>
      </p:sp>
    </p:spTree>
    <p:extLst>
      <p:ext uri="{BB962C8B-B14F-4D97-AF65-F5344CB8AC3E}">
        <p14:creationId xmlns:p14="http://schemas.microsoft.com/office/powerpoint/2010/main" val="1871949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D0E740-81CF-4FC1-83A5-F0497E429B08}"/>
              </a:ext>
            </a:extLst>
          </p:cNvPr>
          <p:cNvPicPr>
            <a:picLocks noChangeAspect="1"/>
          </p:cNvPicPr>
          <p:nvPr/>
        </p:nvPicPr>
        <p:blipFill>
          <a:blip r:embed="rId2"/>
          <a:stretch>
            <a:fillRect/>
          </a:stretch>
        </p:blipFill>
        <p:spPr>
          <a:xfrm>
            <a:off x="2446020" y="1600200"/>
            <a:ext cx="8378189" cy="6000749"/>
          </a:xfrm>
          <a:prstGeom prst="rect">
            <a:avLst/>
          </a:prstGeom>
        </p:spPr>
      </p:pic>
      <p:sp>
        <p:nvSpPr>
          <p:cNvPr id="4" name="TextBox 3">
            <a:extLst>
              <a:ext uri="{FF2B5EF4-FFF2-40B4-BE49-F238E27FC236}">
                <a16:creationId xmlns:a16="http://schemas.microsoft.com/office/drawing/2014/main" id="{D90BF63C-EBA5-4C17-A07A-5824359E0A54}"/>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Create Profile</a:t>
            </a:r>
          </a:p>
        </p:txBody>
      </p:sp>
    </p:spTree>
    <p:extLst>
      <p:ext uri="{BB962C8B-B14F-4D97-AF65-F5344CB8AC3E}">
        <p14:creationId xmlns:p14="http://schemas.microsoft.com/office/powerpoint/2010/main" val="3533948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52CD45-291F-483C-B7D4-1265A3224FD0}"/>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Sign up For Admin</a:t>
            </a:r>
          </a:p>
        </p:txBody>
      </p:sp>
      <p:pic>
        <p:nvPicPr>
          <p:cNvPr id="9" name="Picture 8">
            <a:extLst>
              <a:ext uri="{FF2B5EF4-FFF2-40B4-BE49-F238E27FC236}">
                <a16:creationId xmlns:a16="http://schemas.microsoft.com/office/drawing/2014/main" id="{86BA6842-E0AA-439D-81A5-56C8FF6EE93F}"/>
              </a:ext>
            </a:extLst>
          </p:cNvPr>
          <p:cNvPicPr>
            <a:picLocks noChangeAspect="1"/>
          </p:cNvPicPr>
          <p:nvPr/>
        </p:nvPicPr>
        <p:blipFill>
          <a:blip r:embed="rId2"/>
          <a:stretch>
            <a:fillRect/>
          </a:stretch>
        </p:blipFill>
        <p:spPr>
          <a:xfrm>
            <a:off x="1668780" y="2042556"/>
            <a:ext cx="7985859" cy="5055474"/>
          </a:xfrm>
          <a:prstGeom prst="rect">
            <a:avLst/>
          </a:prstGeom>
        </p:spPr>
      </p:pic>
      <p:cxnSp>
        <p:nvCxnSpPr>
          <p:cNvPr id="11" name="Straight Arrow Connector 10">
            <a:extLst>
              <a:ext uri="{FF2B5EF4-FFF2-40B4-BE49-F238E27FC236}">
                <a16:creationId xmlns:a16="http://schemas.microsoft.com/office/drawing/2014/main" id="{D458E137-8F96-431C-8620-73303C945355}"/>
              </a:ext>
            </a:extLst>
          </p:cNvPr>
          <p:cNvCxnSpPr/>
          <p:nvPr/>
        </p:nvCxnSpPr>
        <p:spPr>
          <a:xfrm flipH="1">
            <a:off x="6709410" y="2137410"/>
            <a:ext cx="4860290" cy="1851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EA769DC-6EC3-48FF-BF69-D792AE77966A}"/>
              </a:ext>
            </a:extLst>
          </p:cNvPr>
          <p:cNvSpPr txBox="1"/>
          <p:nvPr/>
        </p:nvSpPr>
        <p:spPr>
          <a:xfrm>
            <a:off x="11304270" y="1522643"/>
            <a:ext cx="7315200" cy="646331"/>
          </a:xfrm>
          <a:prstGeom prst="rect">
            <a:avLst/>
          </a:prstGeom>
          <a:noFill/>
        </p:spPr>
        <p:txBody>
          <a:bodyPr wrap="square">
            <a:spAutoFit/>
          </a:bodyPr>
          <a:lstStyle/>
          <a:p>
            <a:pPr marL="0" indent="0">
              <a:buNone/>
            </a:pPr>
            <a:r>
              <a:rPr lang="en-US" sz="1800" b="1" dirty="0">
                <a:solidFill>
                  <a:srgbClr val="403C4E"/>
                </a:solidFill>
                <a:latin typeface="Merriweather Bold" pitchFamily="34" charset="0"/>
              </a:rPr>
              <a:t>Three Type of Accounts</a:t>
            </a:r>
          </a:p>
          <a:p>
            <a:pPr marL="0" indent="0">
              <a:buNone/>
            </a:pPr>
            <a:r>
              <a:rPr lang="en-US" b="1" dirty="0">
                <a:solidFill>
                  <a:srgbClr val="403C4E"/>
                </a:solidFill>
                <a:latin typeface="Merriweather Bold" pitchFamily="34" charset="0"/>
              </a:rPr>
              <a:t>Choosing Admin</a:t>
            </a:r>
            <a:r>
              <a:rPr lang="en-US" sz="1800" b="1" dirty="0">
                <a:solidFill>
                  <a:srgbClr val="403C4E"/>
                </a:solidFill>
                <a:latin typeface="Merriweather Bold" pitchFamily="34" charset="0"/>
              </a:rPr>
              <a:t> </a:t>
            </a:r>
          </a:p>
        </p:txBody>
      </p:sp>
      <p:pic>
        <p:nvPicPr>
          <p:cNvPr id="15" name="Picture 14">
            <a:extLst>
              <a:ext uri="{FF2B5EF4-FFF2-40B4-BE49-F238E27FC236}">
                <a16:creationId xmlns:a16="http://schemas.microsoft.com/office/drawing/2014/main" id="{B48A10D1-16D1-4EEA-8047-08132BC8A212}"/>
              </a:ext>
            </a:extLst>
          </p:cNvPr>
          <p:cNvPicPr>
            <a:picLocks noChangeAspect="1"/>
          </p:cNvPicPr>
          <p:nvPr/>
        </p:nvPicPr>
        <p:blipFill>
          <a:blip r:embed="rId3"/>
          <a:stretch>
            <a:fillRect/>
          </a:stretch>
        </p:blipFill>
        <p:spPr>
          <a:xfrm>
            <a:off x="10172700" y="3063240"/>
            <a:ext cx="3886400" cy="1301817"/>
          </a:xfrm>
          <a:prstGeom prst="rect">
            <a:avLst/>
          </a:prstGeom>
        </p:spPr>
      </p:pic>
      <p:cxnSp>
        <p:nvCxnSpPr>
          <p:cNvPr id="17" name="Straight Arrow Connector 16">
            <a:extLst>
              <a:ext uri="{FF2B5EF4-FFF2-40B4-BE49-F238E27FC236}">
                <a16:creationId xmlns:a16="http://schemas.microsoft.com/office/drawing/2014/main" id="{0B26F6B6-615A-4F31-94C2-CAC89F4EB0EF}"/>
              </a:ext>
            </a:extLst>
          </p:cNvPr>
          <p:cNvCxnSpPr/>
          <p:nvPr/>
        </p:nvCxnSpPr>
        <p:spPr>
          <a:xfrm flipH="1">
            <a:off x="11424062" y="4114800"/>
            <a:ext cx="843148" cy="1442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9E23C67-A90E-4F53-BD49-3BA218C15838}"/>
              </a:ext>
            </a:extLst>
          </p:cNvPr>
          <p:cNvSpPr txBox="1"/>
          <p:nvPr/>
        </p:nvSpPr>
        <p:spPr>
          <a:xfrm>
            <a:off x="10061470" y="5683382"/>
            <a:ext cx="7315200" cy="646331"/>
          </a:xfrm>
          <a:prstGeom prst="rect">
            <a:avLst/>
          </a:prstGeom>
          <a:noFill/>
        </p:spPr>
        <p:txBody>
          <a:bodyPr wrap="square">
            <a:spAutoFit/>
          </a:bodyPr>
          <a:lstStyle/>
          <a:p>
            <a:pPr marL="0" indent="0">
              <a:buNone/>
            </a:pPr>
            <a:r>
              <a:rPr lang="en-US" sz="1800" b="1" dirty="0">
                <a:solidFill>
                  <a:srgbClr val="403C4E"/>
                </a:solidFill>
                <a:latin typeface="Merriweather Bold" pitchFamily="34" charset="0"/>
              </a:rPr>
              <a:t>Once the Admin has been made</a:t>
            </a:r>
          </a:p>
          <a:p>
            <a:pPr marL="0" indent="0">
              <a:buNone/>
            </a:pPr>
            <a:r>
              <a:rPr lang="en-US" sz="1800" b="1" dirty="0">
                <a:solidFill>
                  <a:srgbClr val="403C4E"/>
                </a:solidFill>
                <a:latin typeface="Merriweather Bold" pitchFamily="34" charset="0"/>
              </a:rPr>
              <a:t>, no more Admin Accounts</a:t>
            </a:r>
          </a:p>
        </p:txBody>
      </p:sp>
    </p:spTree>
    <p:extLst>
      <p:ext uri="{BB962C8B-B14F-4D97-AF65-F5344CB8AC3E}">
        <p14:creationId xmlns:p14="http://schemas.microsoft.com/office/powerpoint/2010/main" val="145156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CF6839-B608-42A0-8F24-1BECA5CF3F69}"/>
              </a:ext>
            </a:extLst>
          </p:cNvPr>
          <p:cNvPicPr>
            <a:picLocks noChangeAspect="1"/>
          </p:cNvPicPr>
          <p:nvPr/>
        </p:nvPicPr>
        <p:blipFill>
          <a:blip r:embed="rId2"/>
          <a:stretch>
            <a:fillRect/>
          </a:stretch>
        </p:blipFill>
        <p:spPr>
          <a:xfrm>
            <a:off x="2315688" y="2146198"/>
            <a:ext cx="8870036" cy="4848367"/>
          </a:xfrm>
          <a:prstGeom prst="rect">
            <a:avLst/>
          </a:prstGeom>
        </p:spPr>
      </p:pic>
      <p:cxnSp>
        <p:nvCxnSpPr>
          <p:cNvPr id="5" name="Straight Arrow Connector 4">
            <a:extLst>
              <a:ext uri="{FF2B5EF4-FFF2-40B4-BE49-F238E27FC236}">
                <a16:creationId xmlns:a16="http://schemas.microsoft.com/office/drawing/2014/main" id="{AE65E62E-A5F3-448E-9D9C-91368D237167}"/>
              </a:ext>
            </a:extLst>
          </p:cNvPr>
          <p:cNvCxnSpPr/>
          <p:nvPr/>
        </p:nvCxnSpPr>
        <p:spPr>
          <a:xfrm flipH="1">
            <a:off x="10450286" y="1567543"/>
            <a:ext cx="735438" cy="6887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83480E5-E974-4EA0-9EC0-097D4A5DAD97}"/>
              </a:ext>
            </a:extLst>
          </p:cNvPr>
          <p:cNvSpPr txBox="1"/>
          <p:nvPr/>
        </p:nvSpPr>
        <p:spPr>
          <a:xfrm>
            <a:off x="10818005" y="1048472"/>
            <a:ext cx="3467595" cy="584775"/>
          </a:xfrm>
          <a:prstGeom prst="rect">
            <a:avLst/>
          </a:prstGeom>
          <a:noFill/>
        </p:spPr>
        <p:txBody>
          <a:bodyPr wrap="square">
            <a:spAutoFit/>
          </a:bodyPr>
          <a:lstStyle/>
          <a:p>
            <a:r>
              <a:rPr lang="en-US" sz="1600" b="1" dirty="0">
                <a:solidFill>
                  <a:srgbClr val="403C4E"/>
                </a:solidFill>
                <a:latin typeface="Merriweather Bold" pitchFamily="34" charset="0"/>
              </a:rPr>
              <a:t>Showing that the Bank </a:t>
            </a:r>
            <a:r>
              <a:rPr lang="en-US" sz="1600" b="1" dirty="0" err="1">
                <a:solidFill>
                  <a:srgbClr val="403C4E"/>
                </a:solidFill>
                <a:latin typeface="Merriweather Bold" pitchFamily="34" charset="0"/>
              </a:rPr>
              <a:t>Acount</a:t>
            </a:r>
            <a:r>
              <a:rPr lang="en-US" sz="1600" b="1" dirty="0">
                <a:solidFill>
                  <a:srgbClr val="403C4E"/>
                </a:solidFill>
                <a:latin typeface="Merriweather Bold" pitchFamily="34" charset="0"/>
              </a:rPr>
              <a:t> has been Added</a:t>
            </a:r>
          </a:p>
        </p:txBody>
      </p:sp>
      <p:cxnSp>
        <p:nvCxnSpPr>
          <p:cNvPr id="11" name="Straight Arrow Connector 10">
            <a:extLst>
              <a:ext uri="{FF2B5EF4-FFF2-40B4-BE49-F238E27FC236}">
                <a16:creationId xmlns:a16="http://schemas.microsoft.com/office/drawing/2014/main" id="{7F42865C-56D9-43DF-9663-545096BD4094}"/>
              </a:ext>
            </a:extLst>
          </p:cNvPr>
          <p:cNvCxnSpPr/>
          <p:nvPr/>
        </p:nvCxnSpPr>
        <p:spPr>
          <a:xfrm flipH="1">
            <a:off x="4952010" y="1633247"/>
            <a:ext cx="8098972" cy="5028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4990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5276ED-E803-4081-8568-DBF6A3AB56D9}"/>
              </a:ext>
            </a:extLst>
          </p:cNvPr>
          <p:cNvPicPr>
            <a:picLocks noChangeAspect="1"/>
          </p:cNvPicPr>
          <p:nvPr/>
        </p:nvPicPr>
        <p:blipFill>
          <a:blip r:embed="rId2"/>
          <a:stretch>
            <a:fillRect/>
          </a:stretch>
        </p:blipFill>
        <p:spPr>
          <a:xfrm>
            <a:off x="1318488" y="1450838"/>
            <a:ext cx="8122067" cy="5327924"/>
          </a:xfrm>
          <a:prstGeom prst="rect">
            <a:avLst/>
          </a:prstGeom>
        </p:spPr>
      </p:pic>
      <p:cxnSp>
        <p:nvCxnSpPr>
          <p:cNvPr id="5" name="Straight Arrow Connector 4">
            <a:extLst>
              <a:ext uri="{FF2B5EF4-FFF2-40B4-BE49-F238E27FC236}">
                <a16:creationId xmlns:a16="http://schemas.microsoft.com/office/drawing/2014/main" id="{5A14F800-2402-457B-B7EE-8A610000A30B}"/>
              </a:ext>
            </a:extLst>
          </p:cNvPr>
          <p:cNvCxnSpPr/>
          <p:nvPr/>
        </p:nvCxnSpPr>
        <p:spPr>
          <a:xfrm flipH="1">
            <a:off x="4487982" y="1805940"/>
            <a:ext cx="6183630" cy="4606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E1532CA-7989-4558-876B-0D1DA4AD565E}"/>
              </a:ext>
            </a:extLst>
          </p:cNvPr>
          <p:cNvCxnSpPr/>
          <p:nvPr/>
        </p:nvCxnSpPr>
        <p:spPr>
          <a:xfrm flipH="1">
            <a:off x="9197142" y="1143000"/>
            <a:ext cx="1474470" cy="537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67CA0E0-7DFA-4DA5-8AC3-AD462FE8EB3B}"/>
              </a:ext>
            </a:extLst>
          </p:cNvPr>
          <p:cNvSpPr txBox="1"/>
          <p:nvPr/>
        </p:nvSpPr>
        <p:spPr>
          <a:xfrm>
            <a:off x="10671612" y="1180196"/>
            <a:ext cx="2729840" cy="646331"/>
          </a:xfrm>
          <a:prstGeom prst="rect">
            <a:avLst/>
          </a:prstGeom>
          <a:noFill/>
        </p:spPr>
        <p:txBody>
          <a:bodyPr wrap="square">
            <a:spAutoFit/>
          </a:bodyPr>
          <a:lstStyle/>
          <a:p>
            <a:pPr marL="0" indent="0">
              <a:buNone/>
            </a:pPr>
            <a:r>
              <a:rPr lang="en-US" sz="1800" b="1" dirty="0">
                <a:solidFill>
                  <a:srgbClr val="403C4E"/>
                </a:solidFill>
                <a:latin typeface="Merriweather Bold" pitchFamily="34" charset="0"/>
              </a:rPr>
              <a:t>Showing that the Sign up IS </a:t>
            </a:r>
            <a:r>
              <a:rPr lang="en-US" sz="1800" b="1" dirty="0" err="1">
                <a:solidFill>
                  <a:srgbClr val="403C4E"/>
                </a:solidFill>
                <a:latin typeface="Merriweather Bold" pitchFamily="34" charset="0"/>
              </a:rPr>
              <a:t>Successfull</a:t>
            </a:r>
            <a:endParaRPr lang="en-US" sz="1800" b="1" dirty="0">
              <a:solidFill>
                <a:srgbClr val="403C4E"/>
              </a:solidFill>
              <a:latin typeface="Merriweather Bold" pitchFamily="34" charset="0"/>
            </a:endParaRPr>
          </a:p>
        </p:txBody>
      </p:sp>
      <p:cxnSp>
        <p:nvCxnSpPr>
          <p:cNvPr id="15" name="Straight Arrow Connector 14">
            <a:extLst>
              <a:ext uri="{FF2B5EF4-FFF2-40B4-BE49-F238E27FC236}">
                <a16:creationId xmlns:a16="http://schemas.microsoft.com/office/drawing/2014/main" id="{D9A0B412-82D2-4DBF-8EB1-0D1A1D10DDF1}"/>
              </a:ext>
            </a:extLst>
          </p:cNvPr>
          <p:cNvCxnSpPr/>
          <p:nvPr/>
        </p:nvCxnSpPr>
        <p:spPr>
          <a:xfrm flipV="1">
            <a:off x="4833257" y="3669475"/>
            <a:ext cx="5838355" cy="445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FF9ADEA-3ED0-42D5-BBB2-8A3E17C4B592}"/>
              </a:ext>
            </a:extLst>
          </p:cNvPr>
          <p:cNvSpPr txBox="1"/>
          <p:nvPr/>
        </p:nvSpPr>
        <p:spPr>
          <a:xfrm>
            <a:off x="10183506" y="3669475"/>
            <a:ext cx="7315200" cy="646331"/>
          </a:xfrm>
          <a:prstGeom prst="rect">
            <a:avLst/>
          </a:prstGeom>
          <a:noFill/>
        </p:spPr>
        <p:txBody>
          <a:bodyPr wrap="square">
            <a:spAutoFit/>
          </a:bodyPr>
          <a:lstStyle/>
          <a:p>
            <a:pPr marL="0" indent="0">
              <a:buNone/>
            </a:pPr>
            <a:r>
              <a:rPr lang="en-US" sz="1800" b="1" dirty="0">
                <a:solidFill>
                  <a:srgbClr val="403C4E"/>
                </a:solidFill>
                <a:latin typeface="Merriweather Bold" pitchFamily="34" charset="0"/>
              </a:rPr>
              <a:t>Only Wallet Is Required Bank or</a:t>
            </a:r>
          </a:p>
          <a:p>
            <a:pPr marL="0" indent="0">
              <a:buNone/>
            </a:pPr>
            <a:r>
              <a:rPr lang="en-US" sz="1800" b="1" dirty="0">
                <a:solidFill>
                  <a:srgbClr val="403C4E"/>
                </a:solidFill>
                <a:latin typeface="Merriweather Bold" pitchFamily="34" charset="0"/>
              </a:rPr>
              <a:t> Digital Wallet</a:t>
            </a:r>
          </a:p>
        </p:txBody>
      </p:sp>
    </p:spTree>
    <p:extLst>
      <p:ext uri="{BB962C8B-B14F-4D97-AF65-F5344CB8AC3E}">
        <p14:creationId xmlns:p14="http://schemas.microsoft.com/office/powerpoint/2010/main" val="362637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9400B16-607E-4A6E-B5B5-793C32C26353}"/>
              </a:ext>
            </a:extLst>
          </p:cNvPr>
          <p:cNvPicPr>
            <a:picLocks noChangeAspect="1"/>
          </p:cNvPicPr>
          <p:nvPr/>
        </p:nvPicPr>
        <p:blipFill>
          <a:blip r:embed="rId2"/>
          <a:stretch>
            <a:fillRect/>
          </a:stretch>
        </p:blipFill>
        <p:spPr>
          <a:xfrm>
            <a:off x="1425038" y="1840675"/>
            <a:ext cx="10877798" cy="5830784"/>
          </a:xfrm>
          <a:prstGeom prst="rect">
            <a:avLst/>
          </a:prstGeom>
        </p:spPr>
      </p:pic>
      <p:sp>
        <p:nvSpPr>
          <p:cNvPr id="8" name="TextBox 7">
            <a:extLst>
              <a:ext uri="{FF2B5EF4-FFF2-40B4-BE49-F238E27FC236}">
                <a16:creationId xmlns:a16="http://schemas.microsoft.com/office/drawing/2014/main" id="{D9A73CB3-E8AD-4C1D-A747-63A0B4801857}"/>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Sign in For Admin</a:t>
            </a:r>
          </a:p>
        </p:txBody>
      </p:sp>
      <p:cxnSp>
        <p:nvCxnSpPr>
          <p:cNvPr id="10" name="Straight Arrow Connector 9">
            <a:extLst>
              <a:ext uri="{FF2B5EF4-FFF2-40B4-BE49-F238E27FC236}">
                <a16:creationId xmlns:a16="http://schemas.microsoft.com/office/drawing/2014/main" id="{732AB8C3-0C53-4B26-B4D3-FF7AC654344F}"/>
              </a:ext>
            </a:extLst>
          </p:cNvPr>
          <p:cNvCxnSpPr/>
          <p:nvPr/>
        </p:nvCxnSpPr>
        <p:spPr>
          <a:xfrm flipV="1">
            <a:off x="7445829" y="1237499"/>
            <a:ext cx="5153890" cy="3892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4D4617F-FF9D-451B-AF4E-1F995FC693F9}"/>
              </a:ext>
            </a:extLst>
          </p:cNvPr>
          <p:cNvSpPr txBox="1"/>
          <p:nvPr/>
        </p:nvSpPr>
        <p:spPr>
          <a:xfrm>
            <a:off x="10497787" y="911029"/>
            <a:ext cx="7315200" cy="369332"/>
          </a:xfrm>
          <a:prstGeom prst="rect">
            <a:avLst/>
          </a:prstGeom>
          <a:noFill/>
        </p:spPr>
        <p:txBody>
          <a:bodyPr wrap="square">
            <a:spAutoFit/>
          </a:bodyPr>
          <a:lstStyle/>
          <a:p>
            <a:r>
              <a:rPr lang="en-US" sz="1800" b="1" dirty="0" err="1">
                <a:solidFill>
                  <a:srgbClr val="403C4E"/>
                </a:solidFill>
                <a:latin typeface="Merriweather Bold" pitchFamily="34" charset="0"/>
              </a:rPr>
              <a:t>Chosing</a:t>
            </a:r>
            <a:r>
              <a:rPr lang="en-US" sz="1800" b="1" dirty="0">
                <a:solidFill>
                  <a:srgbClr val="403C4E"/>
                </a:solidFill>
                <a:latin typeface="Merriweather Bold" pitchFamily="34" charset="0"/>
              </a:rPr>
              <a:t> Admin During Login</a:t>
            </a:r>
          </a:p>
        </p:txBody>
      </p:sp>
      <p:cxnSp>
        <p:nvCxnSpPr>
          <p:cNvPr id="14" name="Straight Arrow Connector 13">
            <a:extLst>
              <a:ext uri="{FF2B5EF4-FFF2-40B4-BE49-F238E27FC236}">
                <a16:creationId xmlns:a16="http://schemas.microsoft.com/office/drawing/2014/main" id="{33DDEFB3-5493-40B5-814C-23C066A57B09}"/>
              </a:ext>
            </a:extLst>
          </p:cNvPr>
          <p:cNvCxnSpPr/>
          <p:nvPr/>
        </p:nvCxnSpPr>
        <p:spPr>
          <a:xfrm flipV="1">
            <a:off x="7647709" y="5881436"/>
            <a:ext cx="5486400" cy="424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4D5BC2C-1279-436F-8A29-F835B91FF6F9}"/>
              </a:ext>
            </a:extLst>
          </p:cNvPr>
          <p:cNvSpPr txBox="1"/>
          <p:nvPr/>
        </p:nvSpPr>
        <p:spPr>
          <a:xfrm>
            <a:off x="8740239" y="5456610"/>
            <a:ext cx="9072748" cy="369332"/>
          </a:xfrm>
          <a:prstGeom prst="rect">
            <a:avLst/>
          </a:prstGeom>
          <a:noFill/>
        </p:spPr>
        <p:txBody>
          <a:bodyPr wrap="square">
            <a:spAutoFit/>
          </a:bodyPr>
          <a:lstStyle/>
          <a:p>
            <a:r>
              <a:rPr lang="en-US" sz="1800" b="1" dirty="0">
                <a:solidFill>
                  <a:srgbClr val="403C4E"/>
                </a:solidFill>
                <a:latin typeface="Merriweather Bold" pitchFamily="34" charset="0"/>
              </a:rPr>
              <a:t>After Correct Sign in the Admin Dashboard opens</a:t>
            </a:r>
          </a:p>
        </p:txBody>
      </p:sp>
    </p:spTree>
    <p:extLst>
      <p:ext uri="{BB962C8B-B14F-4D97-AF65-F5344CB8AC3E}">
        <p14:creationId xmlns:p14="http://schemas.microsoft.com/office/powerpoint/2010/main" val="2481085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4C5287-4DE6-43A5-8578-19B7A0E0BE5D}"/>
              </a:ext>
            </a:extLst>
          </p:cNvPr>
          <p:cNvPicPr>
            <a:picLocks noChangeAspect="1"/>
          </p:cNvPicPr>
          <p:nvPr/>
        </p:nvPicPr>
        <p:blipFill>
          <a:blip r:embed="rId2"/>
          <a:stretch>
            <a:fillRect/>
          </a:stretch>
        </p:blipFill>
        <p:spPr>
          <a:xfrm>
            <a:off x="2823211" y="1654048"/>
            <a:ext cx="9509760" cy="5352542"/>
          </a:xfrm>
          <a:prstGeom prst="rect">
            <a:avLst/>
          </a:prstGeom>
        </p:spPr>
      </p:pic>
      <p:sp>
        <p:nvSpPr>
          <p:cNvPr id="7" name="TextBox 6">
            <a:extLst>
              <a:ext uri="{FF2B5EF4-FFF2-40B4-BE49-F238E27FC236}">
                <a16:creationId xmlns:a16="http://schemas.microsoft.com/office/drawing/2014/main" id="{F4A9E364-4BC5-495A-AC88-4FC286CAD173}"/>
              </a:ext>
            </a:extLst>
          </p:cNvPr>
          <p:cNvSpPr txBox="1"/>
          <p:nvPr/>
        </p:nvSpPr>
        <p:spPr>
          <a:xfrm>
            <a:off x="4446270" y="1038344"/>
            <a:ext cx="7315200" cy="307777"/>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Tell Total Buyer</a:t>
            </a:r>
          </a:p>
        </p:txBody>
      </p:sp>
      <p:sp>
        <p:nvSpPr>
          <p:cNvPr id="12" name="TextBox 11">
            <a:extLst>
              <a:ext uri="{FF2B5EF4-FFF2-40B4-BE49-F238E27FC236}">
                <a16:creationId xmlns:a16="http://schemas.microsoft.com/office/drawing/2014/main" id="{16E332DB-A8D5-46D0-BE1F-8B13776B805A}"/>
              </a:ext>
            </a:extLst>
          </p:cNvPr>
          <p:cNvSpPr txBox="1"/>
          <p:nvPr/>
        </p:nvSpPr>
        <p:spPr>
          <a:xfrm>
            <a:off x="9757410" y="1038343"/>
            <a:ext cx="7315200" cy="307777"/>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Tell Unverified  Seller</a:t>
            </a:r>
          </a:p>
        </p:txBody>
      </p:sp>
      <p:sp>
        <p:nvSpPr>
          <p:cNvPr id="13" name="TextBox 12">
            <a:extLst>
              <a:ext uri="{FF2B5EF4-FFF2-40B4-BE49-F238E27FC236}">
                <a16:creationId xmlns:a16="http://schemas.microsoft.com/office/drawing/2014/main" id="{A839A547-9F91-4A18-8788-79713966E0E6}"/>
              </a:ext>
            </a:extLst>
          </p:cNvPr>
          <p:cNvSpPr txBox="1"/>
          <p:nvPr/>
        </p:nvSpPr>
        <p:spPr>
          <a:xfrm>
            <a:off x="7113270" y="1098487"/>
            <a:ext cx="2019300" cy="307777"/>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Tell Total Seller</a:t>
            </a:r>
          </a:p>
        </p:txBody>
      </p:sp>
      <p:cxnSp>
        <p:nvCxnSpPr>
          <p:cNvPr id="15" name="Straight Arrow Connector 14">
            <a:extLst>
              <a:ext uri="{FF2B5EF4-FFF2-40B4-BE49-F238E27FC236}">
                <a16:creationId xmlns:a16="http://schemas.microsoft.com/office/drawing/2014/main" id="{2EE970C1-E2BD-4324-A5E5-002EAAC3D82F}"/>
              </a:ext>
            </a:extLst>
          </p:cNvPr>
          <p:cNvCxnSpPr/>
          <p:nvPr/>
        </p:nvCxnSpPr>
        <p:spPr>
          <a:xfrm flipV="1">
            <a:off x="4537710" y="1406264"/>
            <a:ext cx="605790" cy="1542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3B89582-C99F-48A1-BB30-62BDD7C11911}"/>
              </a:ext>
            </a:extLst>
          </p:cNvPr>
          <p:cNvCxnSpPr/>
          <p:nvPr/>
        </p:nvCxnSpPr>
        <p:spPr>
          <a:xfrm flipV="1">
            <a:off x="7315200" y="1346121"/>
            <a:ext cx="148590" cy="1602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17F5CB5-53B1-406F-8CF0-D5BB53C416E8}"/>
              </a:ext>
            </a:extLst>
          </p:cNvPr>
          <p:cNvCxnSpPr/>
          <p:nvPr/>
        </p:nvCxnSpPr>
        <p:spPr>
          <a:xfrm flipV="1">
            <a:off x="10149840" y="1346121"/>
            <a:ext cx="148590" cy="1454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FC0712F-B7C0-4567-B9FB-0E53F4761AB9}"/>
              </a:ext>
            </a:extLst>
          </p:cNvPr>
          <p:cNvCxnSpPr>
            <a:cxnSpLocks/>
          </p:cNvCxnSpPr>
          <p:nvPr/>
        </p:nvCxnSpPr>
        <p:spPr>
          <a:xfrm flipH="1">
            <a:off x="1897380" y="3028950"/>
            <a:ext cx="1143000" cy="375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75B8B74-BDC8-4396-BAE6-6C9C1809C5FC}"/>
              </a:ext>
            </a:extLst>
          </p:cNvPr>
          <p:cNvCxnSpPr>
            <a:cxnSpLocks/>
          </p:cNvCxnSpPr>
          <p:nvPr/>
        </p:nvCxnSpPr>
        <p:spPr>
          <a:xfrm flipH="1" flipV="1">
            <a:off x="1691640" y="3666216"/>
            <a:ext cx="1497330" cy="677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F6290E4-7254-4DAB-B04F-7B62C992B970}"/>
              </a:ext>
            </a:extLst>
          </p:cNvPr>
          <p:cNvSpPr txBox="1"/>
          <p:nvPr/>
        </p:nvSpPr>
        <p:spPr>
          <a:xfrm>
            <a:off x="262891" y="3404606"/>
            <a:ext cx="7315200" cy="523220"/>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Explaining this in </a:t>
            </a:r>
          </a:p>
          <a:p>
            <a:pPr marL="0" indent="0">
              <a:buNone/>
            </a:pPr>
            <a:r>
              <a:rPr lang="en-US" sz="1400" b="1" dirty="0">
                <a:solidFill>
                  <a:srgbClr val="403C4E"/>
                </a:solidFill>
                <a:latin typeface="Merriweather Bold" pitchFamily="34" charset="0"/>
              </a:rPr>
              <a:t>Incoming slide</a:t>
            </a:r>
          </a:p>
        </p:txBody>
      </p:sp>
    </p:spTree>
    <p:extLst>
      <p:ext uri="{BB962C8B-B14F-4D97-AF65-F5344CB8AC3E}">
        <p14:creationId xmlns:p14="http://schemas.microsoft.com/office/powerpoint/2010/main" val="2696856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441328-EA7C-4ABC-AAB0-F8A5847445C7}"/>
              </a:ext>
            </a:extLst>
          </p:cNvPr>
          <p:cNvPicPr>
            <a:picLocks noChangeAspect="1"/>
          </p:cNvPicPr>
          <p:nvPr/>
        </p:nvPicPr>
        <p:blipFill>
          <a:blip r:embed="rId2"/>
          <a:stretch>
            <a:fillRect/>
          </a:stretch>
        </p:blipFill>
        <p:spPr>
          <a:xfrm>
            <a:off x="4171951" y="1634490"/>
            <a:ext cx="5251558" cy="5634990"/>
          </a:xfrm>
          <a:prstGeom prst="rect">
            <a:avLst/>
          </a:prstGeom>
        </p:spPr>
      </p:pic>
      <p:cxnSp>
        <p:nvCxnSpPr>
          <p:cNvPr id="5" name="Straight Arrow Connector 4">
            <a:extLst>
              <a:ext uri="{FF2B5EF4-FFF2-40B4-BE49-F238E27FC236}">
                <a16:creationId xmlns:a16="http://schemas.microsoft.com/office/drawing/2014/main" id="{458ED98A-FC19-4387-BDE1-0C86B27AD71F}"/>
              </a:ext>
            </a:extLst>
          </p:cNvPr>
          <p:cNvCxnSpPr/>
          <p:nvPr/>
        </p:nvCxnSpPr>
        <p:spPr>
          <a:xfrm flipV="1">
            <a:off x="7498080" y="2011680"/>
            <a:ext cx="2651760" cy="971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F8A00A4-C5FE-49E8-A62A-447F1F0B87FE}"/>
              </a:ext>
            </a:extLst>
          </p:cNvPr>
          <p:cNvSpPr txBox="1"/>
          <p:nvPr/>
        </p:nvSpPr>
        <p:spPr>
          <a:xfrm>
            <a:off x="9443249" y="1703903"/>
            <a:ext cx="7315200" cy="307777"/>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Now Choosing the Seller for sign up</a:t>
            </a:r>
          </a:p>
        </p:txBody>
      </p:sp>
      <p:sp>
        <p:nvSpPr>
          <p:cNvPr id="7" name="TextBox 6">
            <a:extLst>
              <a:ext uri="{FF2B5EF4-FFF2-40B4-BE49-F238E27FC236}">
                <a16:creationId xmlns:a16="http://schemas.microsoft.com/office/drawing/2014/main" id="{315F3D87-AED7-4C56-8DFF-4C6AA171B6A2}"/>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Sign up For Seller</a:t>
            </a:r>
          </a:p>
        </p:txBody>
      </p:sp>
    </p:spTree>
    <p:extLst>
      <p:ext uri="{BB962C8B-B14F-4D97-AF65-F5344CB8AC3E}">
        <p14:creationId xmlns:p14="http://schemas.microsoft.com/office/powerpoint/2010/main" val="2541158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DD2EAC-8FFB-4070-9D17-9DF1BA408709}"/>
              </a:ext>
            </a:extLst>
          </p:cNvPr>
          <p:cNvPicPr>
            <a:picLocks noChangeAspect="1"/>
          </p:cNvPicPr>
          <p:nvPr/>
        </p:nvPicPr>
        <p:blipFill>
          <a:blip r:embed="rId2"/>
          <a:stretch>
            <a:fillRect/>
          </a:stretch>
        </p:blipFill>
        <p:spPr>
          <a:xfrm>
            <a:off x="2366011" y="1596895"/>
            <a:ext cx="8908618" cy="5261105"/>
          </a:xfrm>
          <a:prstGeom prst="rect">
            <a:avLst/>
          </a:prstGeom>
        </p:spPr>
      </p:pic>
      <p:cxnSp>
        <p:nvCxnSpPr>
          <p:cNvPr id="5" name="Straight Arrow Connector 4">
            <a:extLst>
              <a:ext uri="{FF2B5EF4-FFF2-40B4-BE49-F238E27FC236}">
                <a16:creationId xmlns:a16="http://schemas.microsoft.com/office/drawing/2014/main" id="{CB996E24-133C-4CAF-9392-49A7B5ABC227}"/>
              </a:ext>
            </a:extLst>
          </p:cNvPr>
          <p:cNvCxnSpPr/>
          <p:nvPr/>
        </p:nvCxnSpPr>
        <p:spPr>
          <a:xfrm flipH="1">
            <a:off x="10549890" y="1062990"/>
            <a:ext cx="1737360" cy="788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32BAFA2-80A8-406F-BE90-EBA951C8F7A4}"/>
              </a:ext>
            </a:extLst>
          </p:cNvPr>
          <p:cNvSpPr txBox="1"/>
          <p:nvPr/>
        </p:nvSpPr>
        <p:spPr>
          <a:xfrm>
            <a:off x="11418570" y="537151"/>
            <a:ext cx="7315200" cy="523220"/>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Same as Admin you can choose </a:t>
            </a:r>
          </a:p>
          <a:p>
            <a:pPr marL="0" indent="0">
              <a:buNone/>
            </a:pPr>
            <a:r>
              <a:rPr lang="en-US" sz="1400" b="1" dirty="0">
                <a:solidFill>
                  <a:srgbClr val="403C4E"/>
                </a:solidFill>
                <a:latin typeface="Merriweather Bold" pitchFamily="34" charset="0"/>
              </a:rPr>
              <a:t>bank or digital account</a:t>
            </a:r>
          </a:p>
        </p:txBody>
      </p:sp>
      <p:cxnSp>
        <p:nvCxnSpPr>
          <p:cNvPr id="8" name="Straight Arrow Connector 7">
            <a:extLst>
              <a:ext uri="{FF2B5EF4-FFF2-40B4-BE49-F238E27FC236}">
                <a16:creationId xmlns:a16="http://schemas.microsoft.com/office/drawing/2014/main" id="{7E59EC33-AADB-4B4E-8988-E0A8122CDFEF}"/>
              </a:ext>
            </a:extLst>
          </p:cNvPr>
          <p:cNvCxnSpPr/>
          <p:nvPr/>
        </p:nvCxnSpPr>
        <p:spPr>
          <a:xfrm flipV="1">
            <a:off x="4916384" y="1163782"/>
            <a:ext cx="7588333" cy="5296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6098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2DCE8C-A17F-4828-B1B6-E79EA8C1DF98}"/>
              </a:ext>
            </a:extLst>
          </p:cNvPr>
          <p:cNvSpPr txBox="1"/>
          <p:nvPr/>
        </p:nvSpPr>
        <p:spPr>
          <a:xfrm>
            <a:off x="10497787" y="911029"/>
            <a:ext cx="7315200" cy="369332"/>
          </a:xfrm>
          <a:prstGeom prst="rect">
            <a:avLst/>
          </a:prstGeom>
          <a:noFill/>
        </p:spPr>
        <p:txBody>
          <a:bodyPr wrap="square">
            <a:spAutoFit/>
          </a:bodyPr>
          <a:lstStyle/>
          <a:p>
            <a:r>
              <a:rPr lang="en-US" sz="1800" b="1" dirty="0" err="1">
                <a:solidFill>
                  <a:srgbClr val="403C4E"/>
                </a:solidFill>
                <a:latin typeface="Merriweather Bold" pitchFamily="34" charset="0"/>
              </a:rPr>
              <a:t>Chosing</a:t>
            </a:r>
            <a:r>
              <a:rPr lang="en-US" sz="1800" b="1" dirty="0">
                <a:solidFill>
                  <a:srgbClr val="403C4E"/>
                </a:solidFill>
                <a:latin typeface="Merriweather Bold" pitchFamily="34" charset="0"/>
              </a:rPr>
              <a:t> Seller During Login</a:t>
            </a:r>
          </a:p>
        </p:txBody>
      </p:sp>
      <p:sp>
        <p:nvSpPr>
          <p:cNvPr id="7" name="TextBox 6">
            <a:extLst>
              <a:ext uri="{FF2B5EF4-FFF2-40B4-BE49-F238E27FC236}">
                <a16:creationId xmlns:a16="http://schemas.microsoft.com/office/drawing/2014/main" id="{6960928D-7763-46FA-9100-267D3D2BF85A}"/>
              </a:ext>
            </a:extLst>
          </p:cNvPr>
          <p:cNvSpPr txBox="1"/>
          <p:nvPr/>
        </p:nvSpPr>
        <p:spPr>
          <a:xfrm>
            <a:off x="9883239" y="4918472"/>
            <a:ext cx="9072748" cy="646331"/>
          </a:xfrm>
          <a:prstGeom prst="rect">
            <a:avLst/>
          </a:prstGeom>
          <a:noFill/>
        </p:spPr>
        <p:txBody>
          <a:bodyPr wrap="square">
            <a:spAutoFit/>
          </a:bodyPr>
          <a:lstStyle/>
          <a:p>
            <a:r>
              <a:rPr lang="en-US" sz="1800" b="1" dirty="0">
                <a:solidFill>
                  <a:srgbClr val="403C4E"/>
                </a:solidFill>
                <a:latin typeface="Merriweather Bold" pitchFamily="34" charset="0"/>
              </a:rPr>
              <a:t>After Correct Sign in the </a:t>
            </a:r>
          </a:p>
          <a:p>
            <a:r>
              <a:rPr lang="en-US" sz="1800" b="1" dirty="0">
                <a:solidFill>
                  <a:srgbClr val="403C4E"/>
                </a:solidFill>
                <a:latin typeface="Merriweather Bold" pitchFamily="34" charset="0"/>
              </a:rPr>
              <a:t>Seller Dashboard opens</a:t>
            </a:r>
          </a:p>
        </p:txBody>
      </p:sp>
      <p:pic>
        <p:nvPicPr>
          <p:cNvPr id="11" name="Picture 10">
            <a:extLst>
              <a:ext uri="{FF2B5EF4-FFF2-40B4-BE49-F238E27FC236}">
                <a16:creationId xmlns:a16="http://schemas.microsoft.com/office/drawing/2014/main" id="{F03EB411-9715-4742-9606-E428B49587ED}"/>
              </a:ext>
            </a:extLst>
          </p:cNvPr>
          <p:cNvPicPr>
            <a:picLocks noChangeAspect="1"/>
          </p:cNvPicPr>
          <p:nvPr/>
        </p:nvPicPr>
        <p:blipFill>
          <a:blip r:embed="rId2"/>
          <a:stretch>
            <a:fillRect/>
          </a:stretch>
        </p:blipFill>
        <p:spPr>
          <a:xfrm>
            <a:off x="754380" y="1237500"/>
            <a:ext cx="8740239" cy="6249150"/>
          </a:xfrm>
          <a:prstGeom prst="rect">
            <a:avLst/>
          </a:prstGeom>
        </p:spPr>
      </p:pic>
      <p:cxnSp>
        <p:nvCxnSpPr>
          <p:cNvPr id="13" name="Straight Arrow Connector 12">
            <a:extLst>
              <a:ext uri="{FF2B5EF4-FFF2-40B4-BE49-F238E27FC236}">
                <a16:creationId xmlns:a16="http://schemas.microsoft.com/office/drawing/2014/main" id="{F1544781-C9D2-483A-BE68-1519AB55EE79}"/>
              </a:ext>
            </a:extLst>
          </p:cNvPr>
          <p:cNvCxnSpPr/>
          <p:nvPr/>
        </p:nvCxnSpPr>
        <p:spPr>
          <a:xfrm flipV="1">
            <a:off x="5474970" y="1280361"/>
            <a:ext cx="5280660" cy="3268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7DBF696-3C17-43C3-9B70-E3DE737E5676}"/>
              </a:ext>
            </a:extLst>
          </p:cNvPr>
          <p:cNvCxnSpPr>
            <a:endCxn id="7" idx="1"/>
          </p:cNvCxnSpPr>
          <p:nvPr/>
        </p:nvCxnSpPr>
        <p:spPr>
          <a:xfrm flipV="1">
            <a:off x="5343896" y="5241638"/>
            <a:ext cx="4539343" cy="755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2399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29B5CF-4E7F-4D4F-AF34-B0D31B7F0270}"/>
              </a:ext>
            </a:extLst>
          </p:cNvPr>
          <p:cNvPicPr>
            <a:picLocks noChangeAspect="1"/>
          </p:cNvPicPr>
          <p:nvPr/>
        </p:nvPicPr>
        <p:blipFill>
          <a:blip r:embed="rId2"/>
          <a:stretch>
            <a:fillRect/>
          </a:stretch>
        </p:blipFill>
        <p:spPr>
          <a:xfrm>
            <a:off x="907325" y="2093882"/>
            <a:ext cx="10890810" cy="5181866"/>
          </a:xfrm>
          <a:prstGeom prst="rect">
            <a:avLst/>
          </a:prstGeom>
        </p:spPr>
      </p:pic>
      <p:cxnSp>
        <p:nvCxnSpPr>
          <p:cNvPr id="5" name="Straight Arrow Connector 4">
            <a:extLst>
              <a:ext uri="{FF2B5EF4-FFF2-40B4-BE49-F238E27FC236}">
                <a16:creationId xmlns:a16="http://schemas.microsoft.com/office/drawing/2014/main" id="{17A866A1-96B5-4F42-B8AB-DDFBA702829D}"/>
              </a:ext>
            </a:extLst>
          </p:cNvPr>
          <p:cNvCxnSpPr/>
          <p:nvPr/>
        </p:nvCxnSpPr>
        <p:spPr>
          <a:xfrm flipV="1">
            <a:off x="9951522" y="2093882"/>
            <a:ext cx="3075709" cy="25731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00C8CB45-FACD-4F10-8F4B-0798AD2944ED}"/>
              </a:ext>
            </a:extLst>
          </p:cNvPr>
          <p:cNvCxnSpPr/>
          <p:nvPr/>
        </p:nvCxnSpPr>
        <p:spPr>
          <a:xfrm flipV="1">
            <a:off x="10711543" y="1840675"/>
            <a:ext cx="2173184" cy="9262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7C650C58-0A33-4EBC-9BBB-03F61E7DE1CB}"/>
              </a:ext>
            </a:extLst>
          </p:cNvPr>
          <p:cNvSpPr txBox="1"/>
          <p:nvPr/>
        </p:nvSpPr>
        <p:spPr>
          <a:xfrm>
            <a:off x="11162805" y="1194343"/>
            <a:ext cx="7315200" cy="646331"/>
          </a:xfrm>
          <a:prstGeom prst="rect">
            <a:avLst/>
          </a:prstGeom>
          <a:noFill/>
        </p:spPr>
        <p:txBody>
          <a:bodyPr wrap="square">
            <a:spAutoFit/>
          </a:bodyPr>
          <a:lstStyle/>
          <a:p>
            <a:r>
              <a:rPr lang="en-US" sz="1800" b="1" dirty="0">
                <a:solidFill>
                  <a:srgbClr val="403C4E"/>
                </a:solidFill>
                <a:latin typeface="Merriweather Bold" pitchFamily="34" charset="0"/>
              </a:rPr>
              <a:t>Product will not add until the </a:t>
            </a:r>
          </a:p>
          <a:p>
            <a:r>
              <a:rPr lang="en-US" sz="1800" b="1" dirty="0">
                <a:solidFill>
                  <a:srgbClr val="403C4E"/>
                </a:solidFill>
                <a:latin typeface="Merriweather Bold" pitchFamily="34" charset="0"/>
              </a:rPr>
              <a:t>account is verified by Admin</a:t>
            </a:r>
          </a:p>
        </p:txBody>
      </p:sp>
    </p:spTree>
    <p:extLst>
      <p:ext uri="{BB962C8B-B14F-4D97-AF65-F5344CB8AC3E}">
        <p14:creationId xmlns:p14="http://schemas.microsoft.com/office/powerpoint/2010/main" val="1572112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D75160-9E9D-453C-85AD-099566E434F0}"/>
              </a:ext>
            </a:extLst>
          </p:cNvPr>
          <p:cNvPicPr>
            <a:picLocks noChangeAspect="1"/>
          </p:cNvPicPr>
          <p:nvPr/>
        </p:nvPicPr>
        <p:blipFill>
          <a:blip r:embed="rId2"/>
          <a:stretch>
            <a:fillRect/>
          </a:stretch>
        </p:blipFill>
        <p:spPr>
          <a:xfrm>
            <a:off x="1282390" y="2050944"/>
            <a:ext cx="12065620" cy="4777368"/>
          </a:xfrm>
          <a:prstGeom prst="rect">
            <a:avLst/>
          </a:prstGeom>
        </p:spPr>
      </p:pic>
      <p:cxnSp>
        <p:nvCxnSpPr>
          <p:cNvPr id="5" name="Straight Arrow Connector 4">
            <a:extLst>
              <a:ext uri="{FF2B5EF4-FFF2-40B4-BE49-F238E27FC236}">
                <a16:creationId xmlns:a16="http://schemas.microsoft.com/office/drawing/2014/main" id="{45C7D31E-2258-484C-9A2A-C9B1BC5A71EB}"/>
              </a:ext>
            </a:extLst>
          </p:cNvPr>
          <p:cNvCxnSpPr>
            <a:cxnSpLocks/>
          </p:cNvCxnSpPr>
          <p:nvPr/>
        </p:nvCxnSpPr>
        <p:spPr>
          <a:xfrm flipV="1">
            <a:off x="4191989" y="1733797"/>
            <a:ext cx="0" cy="16471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22F9C44-CCFB-4EEF-8E5B-4BEC9C2EAD75}"/>
              </a:ext>
            </a:extLst>
          </p:cNvPr>
          <p:cNvSpPr txBox="1"/>
          <p:nvPr/>
        </p:nvSpPr>
        <p:spPr>
          <a:xfrm>
            <a:off x="3323111" y="922874"/>
            <a:ext cx="3063833" cy="646331"/>
          </a:xfrm>
          <a:prstGeom prst="rect">
            <a:avLst/>
          </a:prstGeom>
          <a:noFill/>
        </p:spPr>
        <p:txBody>
          <a:bodyPr wrap="square">
            <a:spAutoFit/>
          </a:bodyPr>
          <a:lstStyle/>
          <a:p>
            <a:r>
              <a:rPr lang="en-US" sz="1800" b="1" dirty="0">
                <a:solidFill>
                  <a:srgbClr val="403C4E"/>
                </a:solidFill>
                <a:latin typeface="Merriweather Bold" pitchFamily="34" charset="0"/>
              </a:rPr>
              <a:t>Admin will verify or </a:t>
            </a:r>
          </a:p>
          <a:p>
            <a:r>
              <a:rPr lang="en-US" sz="1800" b="1" dirty="0">
                <a:solidFill>
                  <a:srgbClr val="403C4E"/>
                </a:solidFill>
                <a:latin typeface="Merriweather Bold" pitchFamily="34" charset="0"/>
              </a:rPr>
              <a:t>suspend Seller account</a:t>
            </a:r>
          </a:p>
        </p:txBody>
      </p:sp>
    </p:spTree>
    <p:extLst>
      <p:ext uri="{BB962C8B-B14F-4D97-AF65-F5344CB8AC3E}">
        <p14:creationId xmlns:p14="http://schemas.microsoft.com/office/powerpoint/2010/main" val="3250514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A64CCF-8256-466B-80DD-55AA4CC0A817}"/>
              </a:ext>
            </a:extLst>
          </p:cNvPr>
          <p:cNvPicPr>
            <a:picLocks noChangeAspect="1"/>
          </p:cNvPicPr>
          <p:nvPr/>
        </p:nvPicPr>
        <p:blipFill>
          <a:blip r:embed="rId2"/>
          <a:stretch>
            <a:fillRect/>
          </a:stretch>
        </p:blipFill>
        <p:spPr>
          <a:xfrm>
            <a:off x="4598241" y="2081881"/>
            <a:ext cx="6871053" cy="5594638"/>
          </a:xfrm>
          <a:prstGeom prst="rect">
            <a:avLst/>
          </a:prstGeom>
        </p:spPr>
      </p:pic>
      <p:cxnSp>
        <p:nvCxnSpPr>
          <p:cNvPr id="7" name="Straight Arrow Connector 6">
            <a:extLst>
              <a:ext uri="{FF2B5EF4-FFF2-40B4-BE49-F238E27FC236}">
                <a16:creationId xmlns:a16="http://schemas.microsoft.com/office/drawing/2014/main" id="{3B0740AC-480F-498F-90EA-4490A1A069EC}"/>
              </a:ext>
            </a:extLst>
          </p:cNvPr>
          <p:cNvCxnSpPr/>
          <p:nvPr/>
        </p:nvCxnSpPr>
        <p:spPr>
          <a:xfrm flipH="1" flipV="1">
            <a:off x="2458192" y="5260769"/>
            <a:ext cx="4001985" cy="19831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33EBF7E3-7708-465F-A321-2B9EE5970136}"/>
              </a:ext>
            </a:extLst>
          </p:cNvPr>
          <p:cNvSpPr txBox="1"/>
          <p:nvPr/>
        </p:nvSpPr>
        <p:spPr>
          <a:xfrm>
            <a:off x="1140031" y="4828198"/>
            <a:ext cx="3063833" cy="369332"/>
          </a:xfrm>
          <a:prstGeom prst="rect">
            <a:avLst/>
          </a:prstGeom>
          <a:noFill/>
        </p:spPr>
        <p:txBody>
          <a:bodyPr wrap="square">
            <a:spAutoFit/>
          </a:bodyPr>
          <a:lstStyle/>
          <a:p>
            <a:r>
              <a:rPr lang="en-US" sz="1800" b="1" dirty="0" err="1">
                <a:solidFill>
                  <a:srgbClr val="403C4E"/>
                </a:solidFill>
                <a:latin typeface="Merriweather Bold" pitchFamily="34" charset="0"/>
              </a:rPr>
              <a:t>verifySeller</a:t>
            </a:r>
            <a:endParaRPr lang="en-US" sz="1800" b="1" dirty="0">
              <a:solidFill>
                <a:srgbClr val="403C4E"/>
              </a:solidFill>
              <a:latin typeface="Merriweather Bold" pitchFamily="34" charset="0"/>
            </a:endParaRPr>
          </a:p>
        </p:txBody>
      </p:sp>
      <p:sp>
        <p:nvSpPr>
          <p:cNvPr id="9" name="TextBox 8">
            <a:extLst>
              <a:ext uri="{FF2B5EF4-FFF2-40B4-BE49-F238E27FC236}">
                <a16:creationId xmlns:a16="http://schemas.microsoft.com/office/drawing/2014/main" id="{6F436756-3AC0-4A2F-901E-330F8BDD38B8}"/>
              </a:ext>
            </a:extLst>
          </p:cNvPr>
          <p:cNvSpPr txBox="1"/>
          <p:nvPr/>
        </p:nvSpPr>
        <p:spPr>
          <a:xfrm>
            <a:off x="12100956" y="4828198"/>
            <a:ext cx="3063833" cy="369332"/>
          </a:xfrm>
          <a:prstGeom prst="rect">
            <a:avLst/>
          </a:prstGeom>
          <a:noFill/>
        </p:spPr>
        <p:txBody>
          <a:bodyPr wrap="square">
            <a:spAutoFit/>
          </a:bodyPr>
          <a:lstStyle/>
          <a:p>
            <a:r>
              <a:rPr lang="en-US" b="1" dirty="0" err="1">
                <a:solidFill>
                  <a:srgbClr val="403C4E"/>
                </a:solidFill>
                <a:latin typeface="Merriweather Bold" pitchFamily="34" charset="0"/>
              </a:rPr>
              <a:t>Suspend</a:t>
            </a:r>
            <a:r>
              <a:rPr lang="en-US" sz="1800" b="1" dirty="0" err="1">
                <a:solidFill>
                  <a:srgbClr val="403C4E"/>
                </a:solidFill>
                <a:latin typeface="Merriweather Bold" pitchFamily="34" charset="0"/>
              </a:rPr>
              <a:t>Seller</a:t>
            </a:r>
            <a:endParaRPr lang="en-US" sz="1800" b="1" dirty="0">
              <a:solidFill>
                <a:srgbClr val="403C4E"/>
              </a:solidFill>
              <a:latin typeface="Merriweather Bold" pitchFamily="34" charset="0"/>
            </a:endParaRPr>
          </a:p>
        </p:txBody>
      </p:sp>
      <p:cxnSp>
        <p:nvCxnSpPr>
          <p:cNvPr id="11" name="Straight Arrow Connector 10">
            <a:extLst>
              <a:ext uri="{FF2B5EF4-FFF2-40B4-BE49-F238E27FC236}">
                <a16:creationId xmlns:a16="http://schemas.microsoft.com/office/drawing/2014/main" id="{98B9AC48-FF88-4F63-8D40-CFE366AF4604}"/>
              </a:ext>
            </a:extLst>
          </p:cNvPr>
          <p:cNvCxnSpPr/>
          <p:nvPr/>
        </p:nvCxnSpPr>
        <p:spPr>
          <a:xfrm flipV="1">
            <a:off x="9512135" y="5012864"/>
            <a:ext cx="2588821" cy="2231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98519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D020BF-0D4F-4A73-B1AA-B76D196C8D99}"/>
              </a:ext>
            </a:extLst>
          </p:cNvPr>
          <p:cNvPicPr>
            <a:picLocks noChangeAspect="1"/>
          </p:cNvPicPr>
          <p:nvPr/>
        </p:nvPicPr>
        <p:blipFill>
          <a:blip r:embed="rId2"/>
          <a:stretch>
            <a:fillRect/>
          </a:stretch>
        </p:blipFill>
        <p:spPr>
          <a:xfrm>
            <a:off x="845820" y="937261"/>
            <a:ext cx="4006275" cy="7292339"/>
          </a:xfrm>
          <a:prstGeom prst="rect">
            <a:avLst/>
          </a:prstGeom>
        </p:spPr>
      </p:pic>
      <p:sp>
        <p:nvSpPr>
          <p:cNvPr id="8" name="TextBox 7">
            <a:extLst>
              <a:ext uri="{FF2B5EF4-FFF2-40B4-BE49-F238E27FC236}">
                <a16:creationId xmlns:a16="http://schemas.microsoft.com/office/drawing/2014/main" id="{90A218B4-1DF3-4FB1-9F24-09BB4BA80F80}"/>
              </a:ext>
            </a:extLst>
          </p:cNvPr>
          <p:cNvSpPr txBox="1"/>
          <p:nvPr/>
        </p:nvSpPr>
        <p:spPr>
          <a:xfrm>
            <a:off x="648653" y="362130"/>
            <a:ext cx="7663814" cy="523220"/>
          </a:xfrm>
          <a:prstGeom prst="rect">
            <a:avLst/>
          </a:prstGeom>
          <a:noFill/>
        </p:spPr>
        <p:txBody>
          <a:bodyPr wrap="square">
            <a:spAutoFit/>
          </a:bodyPr>
          <a:lstStyle/>
          <a:p>
            <a:r>
              <a:rPr lang="en-US" sz="2800" b="1" dirty="0">
                <a:solidFill>
                  <a:srgbClr val="403C4E"/>
                </a:solidFill>
                <a:latin typeface="Merriweather Bold" pitchFamily="34" charset="0"/>
              </a:rPr>
              <a:t>In case of suspend seller</a:t>
            </a:r>
          </a:p>
        </p:txBody>
      </p:sp>
      <p:sp>
        <p:nvSpPr>
          <p:cNvPr id="10" name="TextBox 9">
            <a:extLst>
              <a:ext uri="{FF2B5EF4-FFF2-40B4-BE49-F238E27FC236}">
                <a16:creationId xmlns:a16="http://schemas.microsoft.com/office/drawing/2014/main" id="{A9450623-C313-49F4-86BB-E66AAD6480F1}"/>
              </a:ext>
            </a:extLst>
          </p:cNvPr>
          <p:cNvSpPr txBox="1"/>
          <p:nvPr/>
        </p:nvSpPr>
        <p:spPr>
          <a:xfrm>
            <a:off x="6666547" y="514232"/>
            <a:ext cx="7315200" cy="523220"/>
          </a:xfrm>
          <a:prstGeom prst="rect">
            <a:avLst/>
          </a:prstGeom>
          <a:noFill/>
        </p:spPr>
        <p:txBody>
          <a:bodyPr wrap="square">
            <a:spAutoFit/>
          </a:bodyPr>
          <a:lstStyle/>
          <a:p>
            <a:r>
              <a:rPr lang="en-US" sz="2800" b="1" dirty="0">
                <a:solidFill>
                  <a:srgbClr val="403C4E"/>
                </a:solidFill>
                <a:latin typeface="Merriweather Bold" pitchFamily="34" charset="0"/>
              </a:rPr>
              <a:t>In case of Approve seller Account</a:t>
            </a:r>
          </a:p>
        </p:txBody>
      </p:sp>
      <p:pic>
        <p:nvPicPr>
          <p:cNvPr id="12" name="Picture 11">
            <a:extLst>
              <a:ext uri="{FF2B5EF4-FFF2-40B4-BE49-F238E27FC236}">
                <a16:creationId xmlns:a16="http://schemas.microsoft.com/office/drawing/2014/main" id="{A907FDD3-4D78-4204-99A4-37A1813DE521}"/>
              </a:ext>
            </a:extLst>
          </p:cNvPr>
          <p:cNvPicPr>
            <a:picLocks noChangeAspect="1"/>
          </p:cNvPicPr>
          <p:nvPr/>
        </p:nvPicPr>
        <p:blipFill>
          <a:blip r:embed="rId3"/>
          <a:stretch>
            <a:fillRect/>
          </a:stretch>
        </p:blipFill>
        <p:spPr>
          <a:xfrm>
            <a:off x="5313427" y="1924014"/>
            <a:ext cx="8585454" cy="2590836"/>
          </a:xfrm>
          <a:prstGeom prst="rect">
            <a:avLst/>
          </a:prstGeom>
        </p:spPr>
      </p:pic>
    </p:spTree>
    <p:extLst>
      <p:ext uri="{BB962C8B-B14F-4D97-AF65-F5344CB8AC3E}">
        <p14:creationId xmlns:p14="http://schemas.microsoft.com/office/powerpoint/2010/main" val="530749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D69B0B-0F46-4F88-8F7B-740784B71414}"/>
              </a:ext>
            </a:extLst>
          </p:cNvPr>
          <p:cNvPicPr>
            <a:picLocks noChangeAspect="1"/>
          </p:cNvPicPr>
          <p:nvPr/>
        </p:nvPicPr>
        <p:blipFill>
          <a:blip r:embed="rId2"/>
          <a:stretch>
            <a:fillRect/>
          </a:stretch>
        </p:blipFill>
        <p:spPr>
          <a:xfrm>
            <a:off x="3622485" y="1504816"/>
            <a:ext cx="7385430" cy="5219968"/>
          </a:xfrm>
          <a:prstGeom prst="rect">
            <a:avLst/>
          </a:prstGeom>
        </p:spPr>
      </p:pic>
    </p:spTree>
    <p:extLst>
      <p:ext uri="{BB962C8B-B14F-4D97-AF65-F5344CB8AC3E}">
        <p14:creationId xmlns:p14="http://schemas.microsoft.com/office/powerpoint/2010/main" val="4293834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66C756-09C8-4E6D-890B-648886395755}"/>
              </a:ext>
            </a:extLst>
          </p:cNvPr>
          <p:cNvPicPr>
            <a:picLocks noChangeAspect="1"/>
          </p:cNvPicPr>
          <p:nvPr/>
        </p:nvPicPr>
        <p:blipFill>
          <a:blip r:embed="rId2"/>
          <a:stretch>
            <a:fillRect/>
          </a:stretch>
        </p:blipFill>
        <p:spPr>
          <a:xfrm>
            <a:off x="411480" y="388620"/>
            <a:ext cx="5360670" cy="6644774"/>
          </a:xfrm>
          <a:prstGeom prst="rect">
            <a:avLst/>
          </a:prstGeom>
        </p:spPr>
      </p:pic>
      <p:pic>
        <p:nvPicPr>
          <p:cNvPr id="5" name="Picture 4">
            <a:extLst>
              <a:ext uri="{FF2B5EF4-FFF2-40B4-BE49-F238E27FC236}">
                <a16:creationId xmlns:a16="http://schemas.microsoft.com/office/drawing/2014/main" id="{6464FBE8-7223-4DEC-A2D4-269FE2729F77}"/>
              </a:ext>
            </a:extLst>
          </p:cNvPr>
          <p:cNvPicPr>
            <a:picLocks noChangeAspect="1"/>
          </p:cNvPicPr>
          <p:nvPr/>
        </p:nvPicPr>
        <p:blipFill>
          <a:blip r:embed="rId3"/>
          <a:stretch>
            <a:fillRect/>
          </a:stretch>
        </p:blipFill>
        <p:spPr>
          <a:xfrm>
            <a:off x="6479587" y="617220"/>
            <a:ext cx="5750513" cy="6286500"/>
          </a:xfrm>
          <a:prstGeom prst="rect">
            <a:avLst/>
          </a:prstGeom>
        </p:spPr>
      </p:pic>
    </p:spTree>
    <p:extLst>
      <p:ext uri="{BB962C8B-B14F-4D97-AF65-F5344CB8AC3E}">
        <p14:creationId xmlns:p14="http://schemas.microsoft.com/office/powerpoint/2010/main" val="2101936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4CAAE8-5F71-4DE1-A947-19FB562E72D3}"/>
              </a:ext>
            </a:extLst>
          </p:cNvPr>
          <p:cNvPicPr>
            <a:picLocks noChangeAspect="1"/>
          </p:cNvPicPr>
          <p:nvPr/>
        </p:nvPicPr>
        <p:blipFill>
          <a:blip r:embed="rId2"/>
          <a:stretch>
            <a:fillRect/>
          </a:stretch>
        </p:blipFill>
        <p:spPr>
          <a:xfrm>
            <a:off x="842434" y="1145690"/>
            <a:ext cx="11030517" cy="5029458"/>
          </a:xfrm>
          <a:prstGeom prst="rect">
            <a:avLst/>
          </a:prstGeom>
        </p:spPr>
      </p:pic>
      <p:cxnSp>
        <p:nvCxnSpPr>
          <p:cNvPr id="7" name="Straight Arrow Connector 6">
            <a:extLst>
              <a:ext uri="{FF2B5EF4-FFF2-40B4-BE49-F238E27FC236}">
                <a16:creationId xmlns:a16="http://schemas.microsoft.com/office/drawing/2014/main" id="{25D366B9-7230-443D-90D1-AA1138F5836D}"/>
              </a:ext>
            </a:extLst>
          </p:cNvPr>
          <p:cNvCxnSpPr>
            <a:cxnSpLocks/>
          </p:cNvCxnSpPr>
          <p:nvPr/>
        </p:nvCxnSpPr>
        <p:spPr>
          <a:xfrm flipV="1">
            <a:off x="3538847" y="2311420"/>
            <a:ext cx="8828413" cy="32682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BA82BBFD-17DB-456A-8BAF-5AB6C85A695D}"/>
              </a:ext>
            </a:extLst>
          </p:cNvPr>
          <p:cNvSpPr txBox="1"/>
          <p:nvPr/>
        </p:nvSpPr>
        <p:spPr>
          <a:xfrm>
            <a:off x="11601450" y="2311420"/>
            <a:ext cx="7315200" cy="338554"/>
          </a:xfrm>
          <a:prstGeom prst="rect">
            <a:avLst/>
          </a:prstGeom>
          <a:noFill/>
        </p:spPr>
        <p:txBody>
          <a:bodyPr wrap="square">
            <a:spAutoFit/>
          </a:bodyPr>
          <a:lstStyle/>
          <a:p>
            <a:r>
              <a:rPr lang="en-US" sz="1600" b="1" dirty="0">
                <a:solidFill>
                  <a:srgbClr val="403C4E"/>
                </a:solidFill>
                <a:latin typeface="Merriweather Bold" pitchFamily="34" charset="0"/>
              </a:rPr>
              <a:t>New Product has been added</a:t>
            </a:r>
          </a:p>
        </p:txBody>
      </p:sp>
      <p:cxnSp>
        <p:nvCxnSpPr>
          <p:cNvPr id="11" name="Straight Arrow Connector 10">
            <a:extLst>
              <a:ext uri="{FF2B5EF4-FFF2-40B4-BE49-F238E27FC236}">
                <a16:creationId xmlns:a16="http://schemas.microsoft.com/office/drawing/2014/main" id="{3D5165D1-3217-4ABC-B92B-578FC6A4DF2D}"/>
              </a:ext>
            </a:extLst>
          </p:cNvPr>
          <p:cNvCxnSpPr/>
          <p:nvPr/>
        </p:nvCxnSpPr>
        <p:spPr>
          <a:xfrm>
            <a:off x="10842171" y="1330036"/>
            <a:ext cx="1698172" cy="9813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33304E0E-9DD7-4DE8-B42E-17FFFE8D1651}"/>
              </a:ext>
            </a:extLst>
          </p:cNvPr>
          <p:cNvCxnSpPr/>
          <p:nvPr/>
        </p:nvCxnSpPr>
        <p:spPr>
          <a:xfrm>
            <a:off x="7315200" y="5579627"/>
            <a:ext cx="1199408" cy="13199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395CF156-F65C-46D8-80B2-94B98C4F1FA3}"/>
              </a:ext>
            </a:extLst>
          </p:cNvPr>
          <p:cNvSpPr txBox="1"/>
          <p:nvPr/>
        </p:nvSpPr>
        <p:spPr>
          <a:xfrm>
            <a:off x="8101940" y="6851032"/>
            <a:ext cx="9458696" cy="646331"/>
          </a:xfrm>
          <a:prstGeom prst="rect">
            <a:avLst/>
          </a:prstGeom>
          <a:noFill/>
        </p:spPr>
        <p:txBody>
          <a:bodyPr wrap="square">
            <a:spAutoFit/>
          </a:bodyPr>
          <a:lstStyle/>
          <a:p>
            <a:r>
              <a:rPr lang="en-US" sz="1800" b="1" dirty="0">
                <a:solidFill>
                  <a:srgbClr val="403C4E"/>
                </a:solidFill>
                <a:latin typeface="Merriweather Bold" pitchFamily="34" charset="0"/>
              </a:rPr>
              <a:t>We can Change the status of the </a:t>
            </a:r>
          </a:p>
          <a:p>
            <a:r>
              <a:rPr lang="en-US" sz="1800" b="1" dirty="0">
                <a:solidFill>
                  <a:srgbClr val="403C4E"/>
                </a:solidFill>
                <a:latin typeface="Merriweather Bold" pitchFamily="34" charset="0"/>
              </a:rPr>
              <a:t>product to pending, Approved </a:t>
            </a:r>
          </a:p>
        </p:txBody>
      </p:sp>
    </p:spTree>
    <p:extLst>
      <p:ext uri="{BB962C8B-B14F-4D97-AF65-F5344CB8AC3E}">
        <p14:creationId xmlns:p14="http://schemas.microsoft.com/office/powerpoint/2010/main" val="710648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5FD0CA-9D0F-4DEC-B4EE-F8A93E5BAD21}"/>
              </a:ext>
            </a:extLst>
          </p:cNvPr>
          <p:cNvPicPr>
            <a:picLocks noChangeAspect="1"/>
          </p:cNvPicPr>
          <p:nvPr/>
        </p:nvPicPr>
        <p:blipFill>
          <a:blip r:embed="rId2"/>
          <a:stretch>
            <a:fillRect/>
          </a:stretch>
        </p:blipFill>
        <p:spPr>
          <a:xfrm>
            <a:off x="1808874" y="1688368"/>
            <a:ext cx="9366731" cy="5272502"/>
          </a:xfrm>
          <a:prstGeom prst="rect">
            <a:avLst/>
          </a:prstGeom>
        </p:spPr>
      </p:pic>
      <p:sp>
        <p:nvSpPr>
          <p:cNvPr id="4" name="TextBox 3">
            <a:extLst>
              <a:ext uri="{FF2B5EF4-FFF2-40B4-BE49-F238E27FC236}">
                <a16:creationId xmlns:a16="http://schemas.microsoft.com/office/drawing/2014/main" id="{5E4F0523-6D0B-4169-8118-EC459CFD1577}"/>
              </a:ext>
            </a:extLst>
          </p:cNvPr>
          <p:cNvSpPr txBox="1"/>
          <p:nvPr/>
        </p:nvSpPr>
        <p:spPr>
          <a:xfrm>
            <a:off x="1654493" y="745510"/>
            <a:ext cx="7663814" cy="523220"/>
          </a:xfrm>
          <a:prstGeom prst="rect">
            <a:avLst/>
          </a:prstGeom>
          <a:noFill/>
        </p:spPr>
        <p:txBody>
          <a:bodyPr wrap="square">
            <a:spAutoFit/>
          </a:bodyPr>
          <a:lstStyle/>
          <a:p>
            <a:r>
              <a:rPr lang="en-US" sz="2800" b="1" dirty="0">
                <a:solidFill>
                  <a:srgbClr val="403C4E"/>
                </a:solidFill>
                <a:latin typeface="Merriweather Bold" pitchFamily="34" charset="0"/>
              </a:rPr>
              <a:t>Seller all Product</a:t>
            </a:r>
          </a:p>
        </p:txBody>
      </p:sp>
    </p:spTree>
    <p:extLst>
      <p:ext uri="{BB962C8B-B14F-4D97-AF65-F5344CB8AC3E}">
        <p14:creationId xmlns:p14="http://schemas.microsoft.com/office/powerpoint/2010/main" val="1427728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E29254C-6584-423E-A8E1-D8CD6B065DAD}"/>
              </a:ext>
            </a:extLst>
          </p:cNvPr>
          <p:cNvSpPr txBox="1"/>
          <p:nvPr/>
        </p:nvSpPr>
        <p:spPr>
          <a:xfrm>
            <a:off x="4617720" y="1346121"/>
            <a:ext cx="7315200" cy="307777"/>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Tell Total Orders</a:t>
            </a:r>
          </a:p>
        </p:txBody>
      </p:sp>
      <p:pic>
        <p:nvPicPr>
          <p:cNvPr id="10" name="Picture 9">
            <a:extLst>
              <a:ext uri="{FF2B5EF4-FFF2-40B4-BE49-F238E27FC236}">
                <a16:creationId xmlns:a16="http://schemas.microsoft.com/office/drawing/2014/main" id="{3DB7EF3C-8A35-4582-A96F-C5056DC5E702}"/>
              </a:ext>
            </a:extLst>
          </p:cNvPr>
          <p:cNvPicPr>
            <a:picLocks noChangeAspect="1"/>
          </p:cNvPicPr>
          <p:nvPr/>
        </p:nvPicPr>
        <p:blipFill>
          <a:blip r:embed="rId2"/>
          <a:stretch>
            <a:fillRect/>
          </a:stretch>
        </p:blipFill>
        <p:spPr>
          <a:xfrm>
            <a:off x="2297430" y="2248258"/>
            <a:ext cx="10035540" cy="5623560"/>
          </a:xfrm>
          <a:prstGeom prst="rect">
            <a:avLst/>
          </a:prstGeom>
        </p:spPr>
      </p:pic>
      <p:cxnSp>
        <p:nvCxnSpPr>
          <p:cNvPr id="12" name="Straight Arrow Connector 11">
            <a:extLst>
              <a:ext uri="{FF2B5EF4-FFF2-40B4-BE49-F238E27FC236}">
                <a16:creationId xmlns:a16="http://schemas.microsoft.com/office/drawing/2014/main" id="{9EF21246-E147-49AA-B4FE-6426958786C4}"/>
              </a:ext>
            </a:extLst>
          </p:cNvPr>
          <p:cNvCxnSpPr/>
          <p:nvPr/>
        </p:nvCxnSpPr>
        <p:spPr>
          <a:xfrm flipH="1" flipV="1">
            <a:off x="5074920" y="1653898"/>
            <a:ext cx="148590" cy="2243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7F84205-7D4F-4FED-9960-0466CEBB49B6}"/>
              </a:ext>
            </a:extLst>
          </p:cNvPr>
          <p:cNvCxnSpPr/>
          <p:nvPr/>
        </p:nvCxnSpPr>
        <p:spPr>
          <a:xfrm>
            <a:off x="11018520" y="4297680"/>
            <a:ext cx="1817370" cy="285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3F03B2D-0C3B-49CF-80E4-F3F113CDA938}"/>
              </a:ext>
            </a:extLst>
          </p:cNvPr>
          <p:cNvSpPr txBox="1"/>
          <p:nvPr/>
        </p:nvSpPr>
        <p:spPr>
          <a:xfrm>
            <a:off x="12656820" y="4168259"/>
            <a:ext cx="5548053" cy="307777"/>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Choose any To see</a:t>
            </a:r>
          </a:p>
        </p:txBody>
      </p:sp>
    </p:spTree>
    <p:extLst>
      <p:ext uri="{BB962C8B-B14F-4D97-AF65-F5344CB8AC3E}">
        <p14:creationId xmlns:p14="http://schemas.microsoft.com/office/powerpoint/2010/main" val="25535758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33DD31-A340-4227-9B05-3E6D9B70C421}"/>
              </a:ext>
            </a:extLst>
          </p:cNvPr>
          <p:cNvSpPr txBox="1"/>
          <p:nvPr/>
        </p:nvSpPr>
        <p:spPr>
          <a:xfrm>
            <a:off x="4254500" y="486203"/>
            <a:ext cx="7315200" cy="751296"/>
          </a:xfrm>
          <a:prstGeom prst="rect">
            <a:avLst/>
          </a:prstGeom>
          <a:noFill/>
        </p:spPr>
        <p:txBody>
          <a:bodyPr wrap="square">
            <a:spAutoFit/>
          </a:bodyPr>
          <a:lstStyle/>
          <a:p>
            <a:pPr marL="0" indent="0">
              <a:lnSpc>
                <a:spcPts val="5550"/>
              </a:lnSpc>
              <a:buNone/>
            </a:pPr>
            <a:r>
              <a:rPr lang="en-US" sz="3600" b="1" dirty="0">
                <a:solidFill>
                  <a:srgbClr val="403C4E"/>
                </a:solidFill>
                <a:latin typeface="Merriweather Bold" pitchFamily="34" charset="0"/>
              </a:rPr>
              <a:t>Sign up For Buyer</a:t>
            </a:r>
          </a:p>
        </p:txBody>
      </p:sp>
      <p:pic>
        <p:nvPicPr>
          <p:cNvPr id="4" name="Picture 3">
            <a:extLst>
              <a:ext uri="{FF2B5EF4-FFF2-40B4-BE49-F238E27FC236}">
                <a16:creationId xmlns:a16="http://schemas.microsoft.com/office/drawing/2014/main" id="{D328D4B6-9133-4A20-B03B-19E9DC9F9223}"/>
              </a:ext>
            </a:extLst>
          </p:cNvPr>
          <p:cNvPicPr>
            <a:picLocks noChangeAspect="1"/>
          </p:cNvPicPr>
          <p:nvPr/>
        </p:nvPicPr>
        <p:blipFill>
          <a:blip r:embed="rId2"/>
          <a:stretch>
            <a:fillRect/>
          </a:stretch>
        </p:blipFill>
        <p:spPr>
          <a:xfrm>
            <a:off x="5092609" y="1530856"/>
            <a:ext cx="3530781" cy="5532883"/>
          </a:xfrm>
          <a:prstGeom prst="rect">
            <a:avLst/>
          </a:prstGeom>
        </p:spPr>
      </p:pic>
    </p:spTree>
    <p:extLst>
      <p:ext uri="{BB962C8B-B14F-4D97-AF65-F5344CB8AC3E}">
        <p14:creationId xmlns:p14="http://schemas.microsoft.com/office/powerpoint/2010/main" val="807115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3411C9-46B3-4B0A-B369-C9C252B19C98}"/>
              </a:ext>
            </a:extLst>
          </p:cNvPr>
          <p:cNvPicPr>
            <a:picLocks noChangeAspect="1"/>
          </p:cNvPicPr>
          <p:nvPr/>
        </p:nvPicPr>
        <p:blipFill>
          <a:blip r:embed="rId2"/>
          <a:stretch>
            <a:fillRect/>
          </a:stretch>
        </p:blipFill>
        <p:spPr>
          <a:xfrm>
            <a:off x="2314318" y="1365108"/>
            <a:ext cx="10001764" cy="5499383"/>
          </a:xfrm>
          <a:prstGeom prst="rect">
            <a:avLst/>
          </a:prstGeom>
        </p:spPr>
      </p:pic>
    </p:spTree>
    <p:extLst>
      <p:ext uri="{BB962C8B-B14F-4D97-AF65-F5344CB8AC3E}">
        <p14:creationId xmlns:p14="http://schemas.microsoft.com/office/powerpoint/2010/main" val="1875151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484592-17CB-4255-8A42-CF80CE06110C}"/>
              </a:ext>
            </a:extLst>
          </p:cNvPr>
          <p:cNvPicPr>
            <a:picLocks noChangeAspect="1"/>
          </p:cNvPicPr>
          <p:nvPr/>
        </p:nvPicPr>
        <p:blipFill>
          <a:blip r:embed="rId2"/>
          <a:stretch>
            <a:fillRect/>
          </a:stretch>
        </p:blipFill>
        <p:spPr>
          <a:xfrm>
            <a:off x="3272604" y="1303020"/>
            <a:ext cx="7239372" cy="5623560"/>
          </a:xfrm>
          <a:prstGeom prst="rect">
            <a:avLst/>
          </a:prstGeom>
        </p:spPr>
      </p:pic>
    </p:spTree>
    <p:extLst>
      <p:ext uri="{BB962C8B-B14F-4D97-AF65-F5344CB8AC3E}">
        <p14:creationId xmlns:p14="http://schemas.microsoft.com/office/powerpoint/2010/main" val="13625048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34D88A-F2D9-4FEC-A857-50E8F1A1A63E}"/>
              </a:ext>
            </a:extLst>
          </p:cNvPr>
          <p:cNvPicPr>
            <a:picLocks noChangeAspect="1"/>
          </p:cNvPicPr>
          <p:nvPr/>
        </p:nvPicPr>
        <p:blipFill>
          <a:blip r:embed="rId2"/>
          <a:stretch>
            <a:fillRect/>
          </a:stretch>
        </p:blipFill>
        <p:spPr>
          <a:xfrm>
            <a:off x="2228850" y="811530"/>
            <a:ext cx="8061478" cy="7258049"/>
          </a:xfrm>
          <a:prstGeom prst="rect">
            <a:avLst/>
          </a:prstGeom>
        </p:spPr>
      </p:pic>
      <p:cxnSp>
        <p:nvCxnSpPr>
          <p:cNvPr id="4" name="Straight Arrow Connector 3">
            <a:extLst>
              <a:ext uri="{FF2B5EF4-FFF2-40B4-BE49-F238E27FC236}">
                <a16:creationId xmlns:a16="http://schemas.microsoft.com/office/drawing/2014/main" id="{4FFCA995-16EA-46C0-98DF-429FED9B950E}"/>
              </a:ext>
            </a:extLst>
          </p:cNvPr>
          <p:cNvCxnSpPr/>
          <p:nvPr/>
        </p:nvCxnSpPr>
        <p:spPr>
          <a:xfrm flipV="1">
            <a:off x="7053943" y="4465122"/>
            <a:ext cx="3740727" cy="31113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2185D785-C40B-4ED9-A60B-58E1022381E3}"/>
              </a:ext>
            </a:extLst>
          </p:cNvPr>
          <p:cNvSpPr txBox="1"/>
          <p:nvPr/>
        </p:nvSpPr>
        <p:spPr>
          <a:xfrm>
            <a:off x="11303528" y="4107134"/>
            <a:ext cx="7315200" cy="307777"/>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Adding to cart</a:t>
            </a:r>
          </a:p>
        </p:txBody>
      </p:sp>
    </p:spTree>
    <p:extLst>
      <p:ext uri="{BB962C8B-B14F-4D97-AF65-F5344CB8AC3E}">
        <p14:creationId xmlns:p14="http://schemas.microsoft.com/office/powerpoint/2010/main" val="29098419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C5D1A6-72B0-4635-A583-5F0EC50BD90F}"/>
              </a:ext>
            </a:extLst>
          </p:cNvPr>
          <p:cNvPicPr>
            <a:picLocks noChangeAspect="1"/>
          </p:cNvPicPr>
          <p:nvPr/>
        </p:nvPicPr>
        <p:blipFill>
          <a:blip r:embed="rId2"/>
          <a:stretch>
            <a:fillRect/>
          </a:stretch>
        </p:blipFill>
        <p:spPr>
          <a:xfrm>
            <a:off x="2354580" y="1062990"/>
            <a:ext cx="9452610" cy="5701441"/>
          </a:xfrm>
          <a:prstGeom prst="rect">
            <a:avLst/>
          </a:prstGeom>
        </p:spPr>
      </p:pic>
      <p:cxnSp>
        <p:nvCxnSpPr>
          <p:cNvPr id="3" name="Straight Arrow Connector 2">
            <a:extLst>
              <a:ext uri="{FF2B5EF4-FFF2-40B4-BE49-F238E27FC236}">
                <a16:creationId xmlns:a16="http://schemas.microsoft.com/office/drawing/2014/main" id="{63BCD511-EC1C-4445-B1B4-26B019D58DEF}"/>
              </a:ext>
            </a:extLst>
          </p:cNvPr>
          <p:cNvCxnSpPr/>
          <p:nvPr/>
        </p:nvCxnSpPr>
        <p:spPr>
          <a:xfrm flipV="1">
            <a:off x="10319657" y="2612571"/>
            <a:ext cx="2090057" cy="2553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8F35CF2A-EE4E-468D-A4D4-7239328DDE7D}"/>
              </a:ext>
            </a:extLst>
          </p:cNvPr>
          <p:cNvSpPr txBox="1"/>
          <p:nvPr/>
        </p:nvSpPr>
        <p:spPr>
          <a:xfrm>
            <a:off x="11932920" y="2297128"/>
            <a:ext cx="7315200" cy="307777"/>
          </a:xfrm>
          <a:prstGeom prst="rect">
            <a:avLst/>
          </a:prstGeom>
          <a:noFill/>
        </p:spPr>
        <p:txBody>
          <a:bodyPr wrap="square">
            <a:spAutoFit/>
          </a:bodyPr>
          <a:lstStyle/>
          <a:p>
            <a:pPr marL="0" indent="0">
              <a:buNone/>
            </a:pPr>
            <a:r>
              <a:rPr lang="en-US" sz="1400" b="1" dirty="0">
                <a:solidFill>
                  <a:srgbClr val="403C4E"/>
                </a:solidFill>
                <a:latin typeface="Merriweather Bold" pitchFamily="34" charset="0"/>
              </a:rPr>
              <a:t>Going to Checkout</a:t>
            </a:r>
          </a:p>
        </p:txBody>
      </p:sp>
      <p:cxnSp>
        <p:nvCxnSpPr>
          <p:cNvPr id="7" name="Straight Arrow Connector 6">
            <a:extLst>
              <a:ext uri="{FF2B5EF4-FFF2-40B4-BE49-F238E27FC236}">
                <a16:creationId xmlns:a16="http://schemas.microsoft.com/office/drawing/2014/main" id="{7D0BFB17-D57D-4BF2-A838-3993764C81C6}"/>
              </a:ext>
            </a:extLst>
          </p:cNvPr>
          <p:cNvCxnSpPr/>
          <p:nvPr/>
        </p:nvCxnSpPr>
        <p:spPr>
          <a:xfrm flipV="1">
            <a:off x="5783283" y="2612571"/>
            <a:ext cx="6492537" cy="22800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00703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6534D6-9607-4533-93D0-F0353DD10290}"/>
              </a:ext>
            </a:extLst>
          </p:cNvPr>
          <p:cNvPicPr>
            <a:picLocks noChangeAspect="1"/>
          </p:cNvPicPr>
          <p:nvPr/>
        </p:nvPicPr>
        <p:blipFill>
          <a:blip r:embed="rId2"/>
          <a:stretch>
            <a:fillRect/>
          </a:stretch>
        </p:blipFill>
        <p:spPr>
          <a:xfrm>
            <a:off x="1371600" y="754380"/>
            <a:ext cx="7555230" cy="6709409"/>
          </a:xfrm>
          <a:prstGeom prst="rect">
            <a:avLst/>
          </a:prstGeom>
        </p:spPr>
      </p:pic>
      <p:pic>
        <p:nvPicPr>
          <p:cNvPr id="4" name="Picture 3">
            <a:extLst>
              <a:ext uri="{FF2B5EF4-FFF2-40B4-BE49-F238E27FC236}">
                <a16:creationId xmlns:a16="http://schemas.microsoft.com/office/drawing/2014/main" id="{5294B967-5489-46AD-989F-04B72CAB58C2}"/>
              </a:ext>
            </a:extLst>
          </p:cNvPr>
          <p:cNvPicPr>
            <a:picLocks noChangeAspect="1"/>
          </p:cNvPicPr>
          <p:nvPr/>
        </p:nvPicPr>
        <p:blipFill>
          <a:blip r:embed="rId3"/>
          <a:stretch>
            <a:fillRect/>
          </a:stretch>
        </p:blipFill>
        <p:spPr>
          <a:xfrm>
            <a:off x="9726930" y="1031182"/>
            <a:ext cx="4019615" cy="2363528"/>
          </a:xfrm>
          <a:prstGeom prst="rect">
            <a:avLst/>
          </a:prstGeom>
        </p:spPr>
      </p:pic>
      <p:cxnSp>
        <p:nvCxnSpPr>
          <p:cNvPr id="6" name="Straight Arrow Connector 5">
            <a:extLst>
              <a:ext uri="{FF2B5EF4-FFF2-40B4-BE49-F238E27FC236}">
                <a16:creationId xmlns:a16="http://schemas.microsoft.com/office/drawing/2014/main" id="{6A3D462F-D858-4DB3-ACEA-C8273384F549}"/>
              </a:ext>
            </a:extLst>
          </p:cNvPr>
          <p:cNvCxnSpPr/>
          <p:nvPr/>
        </p:nvCxnSpPr>
        <p:spPr>
          <a:xfrm flipV="1">
            <a:off x="7463790" y="5246370"/>
            <a:ext cx="4251960" cy="1954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A823DB7-B85C-46E4-BD70-339B0C2999BA}"/>
              </a:ext>
            </a:extLst>
          </p:cNvPr>
          <p:cNvSpPr txBox="1"/>
          <p:nvPr/>
        </p:nvSpPr>
        <p:spPr>
          <a:xfrm>
            <a:off x="11426586" y="4938926"/>
            <a:ext cx="3063833" cy="369332"/>
          </a:xfrm>
          <a:prstGeom prst="rect">
            <a:avLst/>
          </a:prstGeom>
          <a:noFill/>
        </p:spPr>
        <p:txBody>
          <a:bodyPr wrap="square">
            <a:spAutoFit/>
          </a:bodyPr>
          <a:lstStyle/>
          <a:p>
            <a:r>
              <a:rPr lang="en-US" b="1" dirty="0">
                <a:solidFill>
                  <a:srgbClr val="403C4E"/>
                </a:solidFill>
                <a:latin typeface="Merriweather Bold" pitchFamily="34" charset="0"/>
              </a:rPr>
              <a:t>Placing Order</a:t>
            </a:r>
            <a:endParaRPr lang="en-US" sz="1800" b="1" dirty="0">
              <a:solidFill>
                <a:srgbClr val="403C4E"/>
              </a:solidFill>
              <a:latin typeface="Merriweather Bold" pitchFamily="34" charset="0"/>
            </a:endParaRPr>
          </a:p>
        </p:txBody>
      </p:sp>
      <p:cxnSp>
        <p:nvCxnSpPr>
          <p:cNvPr id="10" name="Straight Arrow Connector 9">
            <a:extLst>
              <a:ext uri="{FF2B5EF4-FFF2-40B4-BE49-F238E27FC236}">
                <a16:creationId xmlns:a16="http://schemas.microsoft.com/office/drawing/2014/main" id="{BBFF963A-E0D6-41A9-AA13-0D5057E4601B}"/>
              </a:ext>
            </a:extLst>
          </p:cNvPr>
          <p:cNvCxnSpPr/>
          <p:nvPr/>
        </p:nvCxnSpPr>
        <p:spPr>
          <a:xfrm flipH="1" flipV="1">
            <a:off x="11555730" y="2983230"/>
            <a:ext cx="857250" cy="2114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7EF440B9-69ED-455E-A207-6790081BD4FF}"/>
              </a:ext>
            </a:extLst>
          </p:cNvPr>
          <p:cNvCxnSpPr/>
          <p:nvPr/>
        </p:nvCxnSpPr>
        <p:spPr>
          <a:xfrm flipV="1">
            <a:off x="6614556" y="653143"/>
            <a:ext cx="2826327" cy="1246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11859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4F3BE3-4267-49B1-AA67-EE29BCF690C4}"/>
              </a:ext>
            </a:extLst>
          </p:cNvPr>
          <p:cNvPicPr>
            <a:picLocks noChangeAspect="1"/>
          </p:cNvPicPr>
          <p:nvPr/>
        </p:nvPicPr>
        <p:blipFill>
          <a:blip r:embed="rId2"/>
          <a:stretch>
            <a:fillRect/>
          </a:stretch>
        </p:blipFill>
        <p:spPr>
          <a:xfrm>
            <a:off x="528787" y="1806624"/>
            <a:ext cx="6509085" cy="3499030"/>
          </a:xfrm>
          <a:prstGeom prst="rect">
            <a:avLst/>
          </a:prstGeom>
        </p:spPr>
      </p:pic>
      <p:pic>
        <p:nvPicPr>
          <p:cNvPr id="7" name="Picture 6">
            <a:extLst>
              <a:ext uri="{FF2B5EF4-FFF2-40B4-BE49-F238E27FC236}">
                <a16:creationId xmlns:a16="http://schemas.microsoft.com/office/drawing/2014/main" id="{6D424F04-5154-456F-91BF-9470BD1C2F5C}"/>
              </a:ext>
            </a:extLst>
          </p:cNvPr>
          <p:cNvPicPr>
            <a:picLocks noChangeAspect="1"/>
          </p:cNvPicPr>
          <p:nvPr/>
        </p:nvPicPr>
        <p:blipFill>
          <a:blip r:embed="rId3"/>
          <a:stretch>
            <a:fillRect/>
          </a:stretch>
        </p:blipFill>
        <p:spPr>
          <a:xfrm>
            <a:off x="7262291" y="1909480"/>
            <a:ext cx="7239372" cy="4070559"/>
          </a:xfrm>
          <a:prstGeom prst="rect">
            <a:avLst/>
          </a:prstGeom>
        </p:spPr>
      </p:pic>
      <p:cxnSp>
        <p:nvCxnSpPr>
          <p:cNvPr id="9" name="Straight Arrow Connector 8">
            <a:extLst>
              <a:ext uri="{FF2B5EF4-FFF2-40B4-BE49-F238E27FC236}">
                <a16:creationId xmlns:a16="http://schemas.microsoft.com/office/drawing/2014/main" id="{0B49984D-DDBD-4F2A-A0EB-E193FED3619A}"/>
              </a:ext>
            </a:extLst>
          </p:cNvPr>
          <p:cNvCxnSpPr>
            <a:cxnSpLocks/>
          </p:cNvCxnSpPr>
          <p:nvPr/>
        </p:nvCxnSpPr>
        <p:spPr>
          <a:xfrm>
            <a:off x="1816047" y="3654033"/>
            <a:ext cx="2413053" cy="30439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5BA5F123-A112-4E1F-BF15-1FBF226107FB}"/>
              </a:ext>
            </a:extLst>
          </p:cNvPr>
          <p:cNvSpPr txBox="1"/>
          <p:nvPr/>
        </p:nvSpPr>
        <p:spPr>
          <a:xfrm>
            <a:off x="3642756" y="6817018"/>
            <a:ext cx="3063833" cy="646331"/>
          </a:xfrm>
          <a:prstGeom prst="rect">
            <a:avLst/>
          </a:prstGeom>
          <a:noFill/>
        </p:spPr>
        <p:txBody>
          <a:bodyPr wrap="square">
            <a:spAutoFit/>
          </a:bodyPr>
          <a:lstStyle/>
          <a:p>
            <a:r>
              <a:rPr lang="en-US" b="1" dirty="0">
                <a:solidFill>
                  <a:srgbClr val="403C4E"/>
                </a:solidFill>
                <a:latin typeface="Merriweather Bold" pitchFamily="34" charset="0"/>
              </a:rPr>
              <a:t>By clicking the View all Orders</a:t>
            </a:r>
            <a:endParaRPr lang="en-US" sz="1800" b="1" dirty="0">
              <a:solidFill>
                <a:srgbClr val="403C4E"/>
              </a:solidFill>
              <a:latin typeface="Merriweather Bold" pitchFamily="34" charset="0"/>
            </a:endParaRPr>
          </a:p>
        </p:txBody>
      </p:sp>
      <p:cxnSp>
        <p:nvCxnSpPr>
          <p:cNvPr id="14" name="Straight Arrow Connector 13">
            <a:extLst>
              <a:ext uri="{FF2B5EF4-FFF2-40B4-BE49-F238E27FC236}">
                <a16:creationId xmlns:a16="http://schemas.microsoft.com/office/drawing/2014/main" id="{CA0356AC-A8B3-4E2B-A032-4FE697CD242F}"/>
              </a:ext>
            </a:extLst>
          </p:cNvPr>
          <p:cNvCxnSpPr>
            <a:cxnSpLocks/>
          </p:cNvCxnSpPr>
          <p:nvPr/>
        </p:nvCxnSpPr>
        <p:spPr>
          <a:xfrm flipV="1">
            <a:off x="4457700" y="1806624"/>
            <a:ext cx="4777740" cy="4891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1FA149A-0F9E-4B0E-ABFA-93E647897F77}"/>
              </a:ext>
            </a:extLst>
          </p:cNvPr>
          <p:cNvSpPr txBox="1"/>
          <p:nvPr/>
        </p:nvSpPr>
        <p:spPr>
          <a:xfrm>
            <a:off x="9037123" y="1196277"/>
            <a:ext cx="3063833" cy="369332"/>
          </a:xfrm>
          <a:prstGeom prst="rect">
            <a:avLst/>
          </a:prstGeom>
          <a:noFill/>
        </p:spPr>
        <p:txBody>
          <a:bodyPr wrap="square">
            <a:spAutoFit/>
          </a:bodyPr>
          <a:lstStyle/>
          <a:p>
            <a:r>
              <a:rPr lang="en-US" b="1" dirty="0">
                <a:solidFill>
                  <a:srgbClr val="403C4E"/>
                </a:solidFill>
                <a:latin typeface="Merriweather Bold" pitchFamily="34" charset="0"/>
              </a:rPr>
              <a:t>Order Details</a:t>
            </a:r>
            <a:endParaRPr lang="en-US" sz="1800" b="1" dirty="0">
              <a:solidFill>
                <a:srgbClr val="403C4E"/>
              </a:solidFill>
              <a:latin typeface="Merriweather Bold" pitchFamily="34" charset="0"/>
            </a:endParaRPr>
          </a:p>
        </p:txBody>
      </p:sp>
      <p:sp>
        <p:nvSpPr>
          <p:cNvPr id="8" name="TextBox 7">
            <a:extLst>
              <a:ext uri="{FF2B5EF4-FFF2-40B4-BE49-F238E27FC236}">
                <a16:creationId xmlns:a16="http://schemas.microsoft.com/office/drawing/2014/main" id="{146BCA22-68B2-419E-852A-D1DEC931FE34}"/>
              </a:ext>
            </a:extLst>
          </p:cNvPr>
          <p:cNvSpPr txBox="1"/>
          <p:nvPr/>
        </p:nvSpPr>
        <p:spPr>
          <a:xfrm>
            <a:off x="950026" y="616444"/>
            <a:ext cx="6312266" cy="646331"/>
          </a:xfrm>
          <a:prstGeom prst="rect">
            <a:avLst/>
          </a:prstGeom>
          <a:noFill/>
        </p:spPr>
        <p:txBody>
          <a:bodyPr wrap="square">
            <a:spAutoFit/>
          </a:bodyPr>
          <a:lstStyle/>
          <a:p>
            <a:r>
              <a:rPr lang="en-US" b="1" dirty="0">
                <a:solidFill>
                  <a:srgbClr val="403C4E"/>
                </a:solidFill>
                <a:latin typeface="Merriweather Bold" pitchFamily="34" charset="0"/>
              </a:rPr>
              <a:t>After The buyer buy the details come to seller dashboard</a:t>
            </a:r>
            <a:endParaRPr lang="en-US" sz="1800" b="1" dirty="0">
              <a:solidFill>
                <a:srgbClr val="403C4E"/>
              </a:solidFill>
              <a:latin typeface="Merriweather Bold" pitchFamily="34" charset="0"/>
            </a:endParaRPr>
          </a:p>
        </p:txBody>
      </p:sp>
    </p:spTree>
    <p:extLst>
      <p:ext uri="{BB962C8B-B14F-4D97-AF65-F5344CB8AC3E}">
        <p14:creationId xmlns:p14="http://schemas.microsoft.com/office/powerpoint/2010/main" val="20602284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0BA8F7-C6AE-4C83-B3DF-CD95BF918649}"/>
              </a:ext>
            </a:extLst>
          </p:cNvPr>
          <p:cNvSpPr txBox="1"/>
          <p:nvPr/>
        </p:nvSpPr>
        <p:spPr>
          <a:xfrm>
            <a:off x="5498275" y="337288"/>
            <a:ext cx="7315200" cy="737894"/>
          </a:xfrm>
          <a:prstGeom prst="rect">
            <a:avLst/>
          </a:prstGeom>
          <a:noFill/>
        </p:spPr>
        <p:txBody>
          <a:bodyPr wrap="square">
            <a:spAutoFit/>
          </a:bodyPr>
          <a:lstStyle/>
          <a:p>
            <a:pPr marL="0" indent="0">
              <a:lnSpc>
                <a:spcPts val="5550"/>
              </a:lnSpc>
              <a:buNone/>
            </a:pPr>
            <a:r>
              <a:rPr lang="en-US" sz="3200" b="1" dirty="0">
                <a:solidFill>
                  <a:srgbClr val="403C4E"/>
                </a:solidFill>
                <a:latin typeface="Merriweather Bold" pitchFamily="34" charset="0"/>
              </a:rPr>
              <a:t>AI Chatbot</a:t>
            </a:r>
          </a:p>
        </p:txBody>
      </p:sp>
      <p:pic>
        <p:nvPicPr>
          <p:cNvPr id="5" name="Picture 4">
            <a:extLst>
              <a:ext uri="{FF2B5EF4-FFF2-40B4-BE49-F238E27FC236}">
                <a16:creationId xmlns:a16="http://schemas.microsoft.com/office/drawing/2014/main" id="{859C0823-9DC2-46DD-BC68-0569775E3ECD}"/>
              </a:ext>
            </a:extLst>
          </p:cNvPr>
          <p:cNvPicPr>
            <a:picLocks noChangeAspect="1"/>
          </p:cNvPicPr>
          <p:nvPr/>
        </p:nvPicPr>
        <p:blipFill>
          <a:blip r:embed="rId2"/>
          <a:stretch>
            <a:fillRect/>
          </a:stretch>
        </p:blipFill>
        <p:spPr>
          <a:xfrm>
            <a:off x="780292" y="1227809"/>
            <a:ext cx="10121255" cy="5499383"/>
          </a:xfrm>
          <a:prstGeom prst="rect">
            <a:avLst/>
          </a:prstGeom>
        </p:spPr>
      </p:pic>
      <p:cxnSp>
        <p:nvCxnSpPr>
          <p:cNvPr id="9" name="Straight Arrow Connector 8">
            <a:extLst>
              <a:ext uri="{FF2B5EF4-FFF2-40B4-BE49-F238E27FC236}">
                <a16:creationId xmlns:a16="http://schemas.microsoft.com/office/drawing/2014/main" id="{BEEEBA18-43FD-4FDC-BBC8-6FE949DA824F}"/>
              </a:ext>
            </a:extLst>
          </p:cNvPr>
          <p:cNvCxnSpPr/>
          <p:nvPr/>
        </p:nvCxnSpPr>
        <p:spPr>
          <a:xfrm flipV="1">
            <a:off x="8799616" y="2671948"/>
            <a:ext cx="3348841" cy="2232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E20A0481-5A4A-4F3B-8B8C-262A8C62A62D}"/>
              </a:ext>
            </a:extLst>
          </p:cNvPr>
          <p:cNvCxnSpPr/>
          <p:nvPr/>
        </p:nvCxnSpPr>
        <p:spPr>
          <a:xfrm flipV="1">
            <a:off x="8478982" y="3871356"/>
            <a:ext cx="4488873" cy="12706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3F9F2DE4-F67B-44F7-A2CB-F7D0FFC50DBB}"/>
              </a:ext>
            </a:extLst>
          </p:cNvPr>
          <p:cNvSpPr txBox="1"/>
          <p:nvPr/>
        </p:nvSpPr>
        <p:spPr>
          <a:xfrm>
            <a:off x="10192508" y="3395563"/>
            <a:ext cx="7315200" cy="646331"/>
          </a:xfrm>
          <a:prstGeom prst="rect">
            <a:avLst/>
          </a:prstGeom>
          <a:noFill/>
        </p:spPr>
        <p:txBody>
          <a:bodyPr wrap="square">
            <a:spAutoFit/>
          </a:bodyPr>
          <a:lstStyle/>
          <a:p>
            <a:pPr marL="0" indent="0">
              <a:buNone/>
            </a:pPr>
            <a:r>
              <a:rPr lang="en-US" sz="1800" b="1" dirty="0">
                <a:solidFill>
                  <a:srgbClr val="403C4E"/>
                </a:solidFill>
                <a:latin typeface="Merriweather Bold" pitchFamily="34" charset="0"/>
              </a:rPr>
              <a:t>Every Page have Different Questions</a:t>
            </a:r>
          </a:p>
          <a:p>
            <a:pPr marL="0" indent="0">
              <a:buNone/>
            </a:pPr>
            <a:r>
              <a:rPr lang="en-US" sz="1800" b="1" dirty="0">
                <a:solidFill>
                  <a:srgbClr val="403C4E"/>
                </a:solidFill>
                <a:latin typeface="Merriweather Bold" pitchFamily="34" charset="0"/>
              </a:rPr>
              <a:t> According to the type of the page </a:t>
            </a:r>
          </a:p>
        </p:txBody>
      </p:sp>
    </p:spTree>
    <p:extLst>
      <p:ext uri="{BB962C8B-B14F-4D97-AF65-F5344CB8AC3E}">
        <p14:creationId xmlns:p14="http://schemas.microsoft.com/office/powerpoint/2010/main" val="31359383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233A30-2160-46B3-8448-FC53B7510A27}"/>
              </a:ext>
            </a:extLst>
          </p:cNvPr>
          <p:cNvPicPr>
            <a:picLocks noChangeAspect="1"/>
          </p:cNvPicPr>
          <p:nvPr/>
        </p:nvPicPr>
        <p:blipFill>
          <a:blip r:embed="rId2"/>
          <a:stretch>
            <a:fillRect/>
          </a:stretch>
        </p:blipFill>
        <p:spPr>
          <a:xfrm>
            <a:off x="1363478" y="645826"/>
            <a:ext cx="11214676" cy="5524784"/>
          </a:xfrm>
          <a:prstGeom prst="rect">
            <a:avLst/>
          </a:prstGeom>
        </p:spPr>
      </p:pic>
      <p:cxnSp>
        <p:nvCxnSpPr>
          <p:cNvPr id="5" name="Straight Arrow Connector 4">
            <a:extLst>
              <a:ext uri="{FF2B5EF4-FFF2-40B4-BE49-F238E27FC236}">
                <a16:creationId xmlns:a16="http://schemas.microsoft.com/office/drawing/2014/main" id="{DF566703-2AE4-4079-812C-8A10DFB69FD7}"/>
              </a:ext>
            </a:extLst>
          </p:cNvPr>
          <p:cNvCxnSpPr/>
          <p:nvPr/>
        </p:nvCxnSpPr>
        <p:spPr>
          <a:xfrm flipV="1">
            <a:off x="10284031" y="2921330"/>
            <a:ext cx="2648198" cy="1686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60EF478-9D4F-4E1C-8DCD-3986EC9C95C0}"/>
              </a:ext>
            </a:extLst>
          </p:cNvPr>
          <p:cNvCxnSpPr/>
          <p:nvPr/>
        </p:nvCxnSpPr>
        <p:spPr>
          <a:xfrm flipV="1">
            <a:off x="9856519" y="3135086"/>
            <a:ext cx="3313216" cy="1080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7C1448F-B58F-400D-A21E-F09271ECB3C7}"/>
              </a:ext>
            </a:extLst>
          </p:cNvPr>
          <p:cNvSpPr txBox="1"/>
          <p:nvPr/>
        </p:nvSpPr>
        <p:spPr>
          <a:xfrm>
            <a:off x="10497787" y="2488755"/>
            <a:ext cx="7315200" cy="646331"/>
          </a:xfrm>
          <a:prstGeom prst="rect">
            <a:avLst/>
          </a:prstGeom>
          <a:noFill/>
        </p:spPr>
        <p:txBody>
          <a:bodyPr wrap="square">
            <a:spAutoFit/>
          </a:bodyPr>
          <a:lstStyle/>
          <a:p>
            <a:pPr marL="0" indent="0">
              <a:buNone/>
            </a:pPr>
            <a:r>
              <a:rPr lang="en-US" sz="1800" b="1" dirty="0">
                <a:solidFill>
                  <a:srgbClr val="403C4E"/>
                </a:solidFill>
                <a:latin typeface="Merriweather Bold" pitchFamily="34" charset="0"/>
              </a:rPr>
              <a:t>Now I go to seller page all the </a:t>
            </a:r>
          </a:p>
          <a:p>
            <a:pPr marL="0" indent="0">
              <a:buNone/>
            </a:pPr>
            <a:r>
              <a:rPr lang="en-US" sz="1800" b="1" dirty="0">
                <a:solidFill>
                  <a:srgbClr val="403C4E"/>
                </a:solidFill>
                <a:latin typeface="Merriweather Bold" pitchFamily="34" charset="0"/>
              </a:rPr>
              <a:t>questions are related to products </a:t>
            </a:r>
          </a:p>
        </p:txBody>
      </p:sp>
    </p:spTree>
    <p:extLst>
      <p:ext uri="{BB962C8B-B14F-4D97-AF65-F5344CB8AC3E}">
        <p14:creationId xmlns:p14="http://schemas.microsoft.com/office/powerpoint/2010/main" val="465535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A4158-0AE7-4CE7-A92B-97FEAC272B84}"/>
              </a:ext>
            </a:extLst>
          </p:cNvPr>
          <p:cNvPicPr>
            <a:picLocks noChangeAspect="1"/>
          </p:cNvPicPr>
          <p:nvPr/>
        </p:nvPicPr>
        <p:blipFill>
          <a:blip r:embed="rId2"/>
          <a:stretch>
            <a:fillRect/>
          </a:stretch>
        </p:blipFill>
        <p:spPr>
          <a:xfrm>
            <a:off x="1500618" y="868373"/>
            <a:ext cx="8486530" cy="5971814"/>
          </a:xfrm>
          <a:prstGeom prst="rect">
            <a:avLst/>
          </a:prstGeom>
        </p:spPr>
      </p:pic>
      <p:cxnSp>
        <p:nvCxnSpPr>
          <p:cNvPr id="5" name="Straight Arrow Connector 4">
            <a:extLst>
              <a:ext uri="{FF2B5EF4-FFF2-40B4-BE49-F238E27FC236}">
                <a16:creationId xmlns:a16="http://schemas.microsoft.com/office/drawing/2014/main" id="{5FFB6291-6C8A-4308-93A2-10CBA39FD42B}"/>
              </a:ext>
            </a:extLst>
          </p:cNvPr>
          <p:cNvCxnSpPr/>
          <p:nvPr/>
        </p:nvCxnSpPr>
        <p:spPr>
          <a:xfrm flipV="1">
            <a:off x="7873340" y="2208810"/>
            <a:ext cx="2933205" cy="2873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F15BC0C2-FE1C-4127-B9F6-7F85947DDBAE}"/>
              </a:ext>
            </a:extLst>
          </p:cNvPr>
          <p:cNvCxnSpPr/>
          <p:nvPr/>
        </p:nvCxnSpPr>
        <p:spPr>
          <a:xfrm flipV="1">
            <a:off x="8882743" y="2434442"/>
            <a:ext cx="2149434" cy="2648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F96E7698-1FEA-4333-94FC-B4A92D11F251}"/>
              </a:ext>
            </a:extLst>
          </p:cNvPr>
          <p:cNvCxnSpPr/>
          <p:nvPr/>
        </p:nvCxnSpPr>
        <p:spPr>
          <a:xfrm flipV="1">
            <a:off x="8098972" y="3123210"/>
            <a:ext cx="3313215" cy="23156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33307C89-9E6B-4D57-B6C2-A2C8A5C32758}"/>
              </a:ext>
            </a:extLst>
          </p:cNvPr>
          <p:cNvSpPr txBox="1"/>
          <p:nvPr/>
        </p:nvSpPr>
        <p:spPr>
          <a:xfrm>
            <a:off x="11162805" y="2185060"/>
            <a:ext cx="7315200" cy="369332"/>
          </a:xfrm>
          <a:prstGeom prst="rect">
            <a:avLst/>
          </a:prstGeom>
          <a:noFill/>
        </p:spPr>
        <p:txBody>
          <a:bodyPr wrap="square">
            <a:spAutoFit/>
          </a:bodyPr>
          <a:lstStyle/>
          <a:p>
            <a:pPr marL="0" indent="0">
              <a:buNone/>
            </a:pPr>
            <a:r>
              <a:rPr lang="en-US" sz="1800" b="1" dirty="0">
                <a:solidFill>
                  <a:srgbClr val="403C4E"/>
                </a:solidFill>
                <a:latin typeface="Merriweather Bold" pitchFamily="34" charset="0"/>
              </a:rPr>
              <a:t>Another Example</a:t>
            </a:r>
          </a:p>
        </p:txBody>
      </p:sp>
    </p:spTree>
    <p:extLst>
      <p:ext uri="{BB962C8B-B14F-4D97-AF65-F5344CB8AC3E}">
        <p14:creationId xmlns:p14="http://schemas.microsoft.com/office/powerpoint/2010/main" val="388162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5E76C2-5830-49D9-BC3B-DCF99A32FB09}"/>
              </a:ext>
            </a:extLst>
          </p:cNvPr>
          <p:cNvPicPr>
            <a:picLocks noChangeAspect="1"/>
          </p:cNvPicPr>
          <p:nvPr/>
        </p:nvPicPr>
        <p:blipFill>
          <a:blip r:embed="rId2"/>
          <a:stretch>
            <a:fillRect/>
          </a:stretch>
        </p:blipFill>
        <p:spPr>
          <a:xfrm>
            <a:off x="1314141" y="2485941"/>
            <a:ext cx="12002117" cy="3257717"/>
          </a:xfrm>
          <a:prstGeom prst="rect">
            <a:avLst/>
          </a:prstGeom>
        </p:spPr>
      </p:pic>
      <p:cxnSp>
        <p:nvCxnSpPr>
          <p:cNvPr id="5" name="Straight Arrow Connector 4">
            <a:extLst>
              <a:ext uri="{FF2B5EF4-FFF2-40B4-BE49-F238E27FC236}">
                <a16:creationId xmlns:a16="http://schemas.microsoft.com/office/drawing/2014/main" id="{207F328F-F86F-4FAA-A53E-0F8FD47EFEE7}"/>
              </a:ext>
            </a:extLst>
          </p:cNvPr>
          <p:cNvCxnSpPr>
            <a:cxnSpLocks/>
          </p:cNvCxnSpPr>
          <p:nvPr/>
        </p:nvCxnSpPr>
        <p:spPr>
          <a:xfrm flipV="1">
            <a:off x="4061584" y="1394450"/>
            <a:ext cx="240030" cy="21829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D5229FFD-1F66-4B0E-A7F6-FB30F59241C8}"/>
              </a:ext>
            </a:extLst>
          </p:cNvPr>
          <p:cNvSpPr txBox="1"/>
          <p:nvPr/>
        </p:nvSpPr>
        <p:spPr>
          <a:xfrm>
            <a:off x="3847605" y="914400"/>
            <a:ext cx="7315200" cy="369332"/>
          </a:xfrm>
          <a:prstGeom prst="rect">
            <a:avLst/>
          </a:prstGeom>
          <a:noFill/>
        </p:spPr>
        <p:txBody>
          <a:bodyPr wrap="square">
            <a:spAutoFit/>
          </a:bodyPr>
          <a:lstStyle/>
          <a:p>
            <a:pPr marL="0" indent="0">
              <a:buNone/>
            </a:pPr>
            <a:r>
              <a:rPr lang="en-US" sz="1800" b="1" dirty="0">
                <a:solidFill>
                  <a:srgbClr val="403C4E"/>
                </a:solidFill>
                <a:latin typeface="Merriweather Bold" pitchFamily="34" charset="0"/>
              </a:rPr>
              <a:t>Export Pdf</a:t>
            </a:r>
          </a:p>
        </p:txBody>
      </p:sp>
      <p:cxnSp>
        <p:nvCxnSpPr>
          <p:cNvPr id="10" name="Straight Arrow Connector 9">
            <a:extLst>
              <a:ext uri="{FF2B5EF4-FFF2-40B4-BE49-F238E27FC236}">
                <a16:creationId xmlns:a16="http://schemas.microsoft.com/office/drawing/2014/main" id="{12874BC9-08FF-4CB8-8B80-FC7D64FF9EB7}"/>
              </a:ext>
            </a:extLst>
          </p:cNvPr>
          <p:cNvCxnSpPr>
            <a:cxnSpLocks/>
          </p:cNvCxnSpPr>
          <p:nvPr/>
        </p:nvCxnSpPr>
        <p:spPr>
          <a:xfrm flipV="1">
            <a:off x="5365315" y="1362184"/>
            <a:ext cx="240030" cy="21829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A2FFF141-9D9A-46EE-AFB0-471A70FF94C9}"/>
              </a:ext>
            </a:extLst>
          </p:cNvPr>
          <p:cNvSpPr txBox="1"/>
          <p:nvPr/>
        </p:nvSpPr>
        <p:spPr>
          <a:xfrm>
            <a:off x="5151336" y="882134"/>
            <a:ext cx="7315200" cy="369332"/>
          </a:xfrm>
          <a:prstGeom prst="rect">
            <a:avLst/>
          </a:prstGeom>
          <a:noFill/>
        </p:spPr>
        <p:txBody>
          <a:bodyPr wrap="square">
            <a:spAutoFit/>
          </a:bodyPr>
          <a:lstStyle/>
          <a:p>
            <a:pPr marL="0" indent="0">
              <a:buNone/>
            </a:pPr>
            <a:r>
              <a:rPr lang="en-US" sz="1800" b="1">
                <a:solidFill>
                  <a:srgbClr val="403C4E"/>
                </a:solidFill>
                <a:latin typeface="Merriweather Bold" pitchFamily="34" charset="0"/>
              </a:rPr>
              <a:t>Export Excel</a:t>
            </a:r>
            <a:endParaRPr lang="en-US" sz="1800" b="1" dirty="0">
              <a:solidFill>
                <a:srgbClr val="403C4E"/>
              </a:solidFill>
              <a:latin typeface="Merriweather Bold" pitchFamily="34" charset="0"/>
            </a:endParaRPr>
          </a:p>
        </p:txBody>
      </p:sp>
    </p:spTree>
    <p:extLst>
      <p:ext uri="{BB962C8B-B14F-4D97-AF65-F5344CB8AC3E}">
        <p14:creationId xmlns:p14="http://schemas.microsoft.com/office/powerpoint/2010/main" val="10485960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42474"/>
            <a:ext cx="13042821" cy="1417558"/>
          </a:xfrm>
          <a:prstGeom prst="rect">
            <a:avLst/>
          </a:prstGeom>
          <a:noFill/>
          <a:ln/>
        </p:spPr>
        <p:txBody>
          <a:bodyPr wrap="square" lIns="0" tIns="0" rIns="0" bIns="0" rtlCol="0" anchor="t"/>
          <a:lstStyle/>
          <a:p>
            <a:pPr algn="ctr">
              <a:lnSpc>
                <a:spcPts val="9221"/>
              </a:lnSpc>
            </a:pPr>
            <a:r>
              <a:rPr lang="en-US" sz="4800" spc="654" dirty="0">
                <a:solidFill>
                  <a:srgbClr val="231F20"/>
                </a:solidFill>
                <a:latin typeface="Times New Roman Bold"/>
              </a:rPr>
              <a:t>RELATED PROJECTS</a:t>
            </a:r>
          </a:p>
        </p:txBody>
      </p:sp>
      <p:sp>
        <p:nvSpPr>
          <p:cNvPr id="3" name="Shape 1"/>
          <p:cNvSpPr/>
          <p:nvPr/>
        </p:nvSpPr>
        <p:spPr>
          <a:xfrm>
            <a:off x="793790" y="2613660"/>
            <a:ext cx="2173724" cy="1306949"/>
          </a:xfrm>
          <a:prstGeom prst="roundRect">
            <a:avLst>
              <a:gd name="adj" fmla="val 7289"/>
            </a:avLst>
          </a:prstGeom>
          <a:solidFill>
            <a:srgbClr val="FFD8CC"/>
          </a:solidFill>
          <a:ln w="7620">
            <a:solidFill>
              <a:srgbClr val="E5BEB2"/>
            </a:solidFill>
            <a:prstDash val="solid"/>
          </a:ln>
        </p:spPr>
      </p:sp>
      <p:sp>
        <p:nvSpPr>
          <p:cNvPr id="4" name="Text 2"/>
          <p:cNvSpPr/>
          <p:nvPr/>
        </p:nvSpPr>
        <p:spPr>
          <a:xfrm>
            <a:off x="1028224" y="3040380"/>
            <a:ext cx="129897" cy="453509"/>
          </a:xfrm>
          <a:prstGeom prst="rect">
            <a:avLst/>
          </a:prstGeom>
          <a:noFill/>
          <a:ln/>
        </p:spPr>
        <p:txBody>
          <a:bodyPr wrap="none" lIns="0" tIns="0" rIns="0" bIns="0" rtlCol="0" anchor="t"/>
          <a:lstStyle/>
          <a:p>
            <a:pPr marL="0" indent="0" algn="ctr">
              <a:lnSpc>
                <a:spcPts val="3550"/>
              </a:lnSpc>
              <a:buNone/>
            </a:pPr>
            <a:r>
              <a:rPr lang="en-US" sz="2200" b="1" dirty="0">
                <a:solidFill>
                  <a:srgbClr val="403C4E"/>
                </a:solidFill>
                <a:latin typeface="Merriweather Bold" pitchFamily="34" charset="0"/>
                <a:ea typeface="Merriweather Bold" pitchFamily="34" charset="-122"/>
                <a:cs typeface="Merriweather Bold" pitchFamily="34" charset="-120"/>
              </a:rPr>
              <a:t>1</a:t>
            </a:r>
            <a:endParaRPr lang="en-US" sz="2200" dirty="0"/>
          </a:p>
        </p:txBody>
      </p:sp>
      <p:sp>
        <p:nvSpPr>
          <p:cNvPr id="5" name="Text 3"/>
          <p:cNvSpPr/>
          <p:nvPr/>
        </p:nvSpPr>
        <p:spPr>
          <a:xfrm>
            <a:off x="3194328" y="2840474"/>
            <a:ext cx="3075742"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Custom Link</a:t>
            </a:r>
          </a:p>
        </p:txBody>
      </p:sp>
      <p:sp>
        <p:nvSpPr>
          <p:cNvPr id="6" name="Text 4"/>
          <p:cNvSpPr/>
          <p:nvPr/>
        </p:nvSpPr>
        <p:spPr>
          <a:xfrm>
            <a:off x="3194328" y="3330893"/>
            <a:ext cx="7657981" cy="362903"/>
          </a:xfrm>
          <a:prstGeom prst="rect">
            <a:avLst/>
          </a:prstGeom>
          <a:noFill/>
          <a:ln/>
        </p:spPr>
        <p:txBody>
          <a:bodyPr wrap="non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It enables custom apparel design but lacks advanced AI and seamless e-commerce integration.</a:t>
            </a:r>
          </a:p>
        </p:txBody>
      </p:sp>
      <p:sp>
        <p:nvSpPr>
          <p:cNvPr id="7" name="Shape 5"/>
          <p:cNvSpPr/>
          <p:nvPr/>
        </p:nvSpPr>
        <p:spPr>
          <a:xfrm>
            <a:off x="3080861" y="3905369"/>
            <a:ext cx="10642402" cy="15240"/>
          </a:xfrm>
          <a:prstGeom prst="roundRect">
            <a:avLst>
              <a:gd name="adj" fmla="val 625116"/>
            </a:avLst>
          </a:prstGeom>
          <a:solidFill>
            <a:srgbClr val="E5BEB2"/>
          </a:solidFill>
          <a:ln/>
        </p:spPr>
      </p:sp>
      <p:sp>
        <p:nvSpPr>
          <p:cNvPr id="8" name="Shape 6"/>
          <p:cNvSpPr/>
          <p:nvPr/>
        </p:nvSpPr>
        <p:spPr>
          <a:xfrm>
            <a:off x="793790" y="4033957"/>
            <a:ext cx="4347567" cy="1669852"/>
          </a:xfrm>
          <a:prstGeom prst="roundRect">
            <a:avLst>
              <a:gd name="adj" fmla="val 5705"/>
            </a:avLst>
          </a:prstGeom>
          <a:solidFill>
            <a:srgbClr val="FFD8CC"/>
          </a:solidFill>
          <a:ln w="7620">
            <a:solidFill>
              <a:srgbClr val="E5BEB2"/>
            </a:solidFill>
            <a:prstDash val="solid"/>
          </a:ln>
        </p:spPr>
      </p:sp>
      <p:sp>
        <p:nvSpPr>
          <p:cNvPr id="9" name="Text 7"/>
          <p:cNvSpPr/>
          <p:nvPr/>
        </p:nvSpPr>
        <p:spPr>
          <a:xfrm>
            <a:off x="1028224" y="4642128"/>
            <a:ext cx="171450" cy="453509"/>
          </a:xfrm>
          <a:prstGeom prst="rect">
            <a:avLst/>
          </a:prstGeom>
          <a:noFill/>
          <a:ln/>
        </p:spPr>
        <p:txBody>
          <a:bodyPr wrap="none" lIns="0" tIns="0" rIns="0" bIns="0" rtlCol="0" anchor="t"/>
          <a:lstStyle/>
          <a:p>
            <a:pPr marL="0" indent="0" algn="ctr">
              <a:lnSpc>
                <a:spcPts val="3550"/>
              </a:lnSpc>
              <a:buNone/>
            </a:pPr>
            <a:r>
              <a:rPr lang="en-US" sz="2200" b="1" dirty="0">
                <a:solidFill>
                  <a:srgbClr val="403C4E"/>
                </a:solidFill>
                <a:latin typeface="Merriweather Bold" pitchFamily="34" charset="0"/>
                <a:ea typeface="Merriweather Bold" pitchFamily="34" charset="-122"/>
                <a:cs typeface="Merriweather Bold" pitchFamily="34" charset="-120"/>
              </a:rPr>
              <a:t>2</a:t>
            </a:r>
            <a:endParaRPr lang="en-US" sz="2200" dirty="0"/>
          </a:p>
        </p:txBody>
      </p:sp>
      <p:sp>
        <p:nvSpPr>
          <p:cNvPr id="10" name="Text 8"/>
          <p:cNvSpPr/>
          <p:nvPr/>
        </p:nvSpPr>
        <p:spPr>
          <a:xfrm>
            <a:off x="5368171" y="4260771"/>
            <a:ext cx="3202662"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Zazzle</a:t>
            </a:r>
            <a:endParaRPr lang="en-US" sz="2200" dirty="0"/>
          </a:p>
        </p:txBody>
      </p:sp>
      <p:sp>
        <p:nvSpPr>
          <p:cNvPr id="11" name="Text 9"/>
          <p:cNvSpPr/>
          <p:nvPr/>
        </p:nvSpPr>
        <p:spPr>
          <a:xfrm>
            <a:off x="5368171" y="4751189"/>
            <a:ext cx="8241625" cy="725805"/>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Provides customization, but lacks AI and real-time communication.</a:t>
            </a:r>
          </a:p>
        </p:txBody>
      </p:sp>
      <p:sp>
        <p:nvSpPr>
          <p:cNvPr id="12" name="Shape 10"/>
          <p:cNvSpPr/>
          <p:nvPr/>
        </p:nvSpPr>
        <p:spPr>
          <a:xfrm>
            <a:off x="5254704" y="5688568"/>
            <a:ext cx="8468558" cy="15240"/>
          </a:xfrm>
          <a:prstGeom prst="roundRect">
            <a:avLst>
              <a:gd name="adj" fmla="val 625116"/>
            </a:avLst>
          </a:prstGeom>
          <a:solidFill>
            <a:srgbClr val="E5BEB2"/>
          </a:solidFill>
          <a:ln/>
        </p:spPr>
      </p:sp>
      <p:sp>
        <p:nvSpPr>
          <p:cNvPr id="13" name="Shape 11"/>
          <p:cNvSpPr/>
          <p:nvPr/>
        </p:nvSpPr>
        <p:spPr>
          <a:xfrm>
            <a:off x="793790" y="5817156"/>
            <a:ext cx="6521410" cy="1669852"/>
          </a:xfrm>
          <a:prstGeom prst="roundRect">
            <a:avLst>
              <a:gd name="adj" fmla="val 5705"/>
            </a:avLst>
          </a:prstGeom>
          <a:solidFill>
            <a:srgbClr val="FFD8CC"/>
          </a:solidFill>
          <a:ln w="7620">
            <a:solidFill>
              <a:srgbClr val="E5BEB2"/>
            </a:solidFill>
            <a:prstDash val="solid"/>
          </a:ln>
        </p:spPr>
      </p:sp>
      <p:sp>
        <p:nvSpPr>
          <p:cNvPr id="14" name="Text 12"/>
          <p:cNvSpPr/>
          <p:nvPr/>
        </p:nvSpPr>
        <p:spPr>
          <a:xfrm>
            <a:off x="1028224" y="6425327"/>
            <a:ext cx="160496" cy="453509"/>
          </a:xfrm>
          <a:prstGeom prst="rect">
            <a:avLst/>
          </a:prstGeom>
          <a:noFill/>
          <a:ln/>
        </p:spPr>
        <p:txBody>
          <a:bodyPr wrap="none" lIns="0" tIns="0" rIns="0" bIns="0" rtlCol="0" anchor="t"/>
          <a:lstStyle/>
          <a:p>
            <a:pPr marL="0" indent="0" algn="ctr">
              <a:lnSpc>
                <a:spcPts val="3550"/>
              </a:lnSpc>
              <a:buNone/>
            </a:pPr>
            <a:r>
              <a:rPr lang="en-US" sz="2200" b="1" dirty="0">
                <a:solidFill>
                  <a:srgbClr val="403C4E"/>
                </a:solidFill>
                <a:latin typeface="Merriweather Bold" pitchFamily="34" charset="0"/>
                <a:ea typeface="Merriweather Bold" pitchFamily="34" charset="-122"/>
                <a:cs typeface="Merriweather Bold" pitchFamily="34" charset="-120"/>
              </a:rPr>
              <a:t>3</a:t>
            </a:r>
            <a:endParaRPr lang="en-US" sz="2200" dirty="0"/>
          </a:p>
        </p:txBody>
      </p:sp>
      <p:sp>
        <p:nvSpPr>
          <p:cNvPr id="15" name="Text 13"/>
          <p:cNvSpPr/>
          <p:nvPr/>
        </p:nvSpPr>
        <p:spPr>
          <a:xfrm>
            <a:off x="7542014" y="6043970"/>
            <a:ext cx="3849052"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Teespring</a:t>
            </a:r>
          </a:p>
        </p:txBody>
      </p:sp>
      <p:sp>
        <p:nvSpPr>
          <p:cNvPr id="16" name="Text 14"/>
          <p:cNvSpPr/>
          <p:nvPr/>
        </p:nvSpPr>
        <p:spPr>
          <a:xfrm>
            <a:off x="7542014" y="6534388"/>
            <a:ext cx="6067782" cy="725805"/>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Offers basic custom design tools but lacks advanced AI and robust communication features.</a:t>
            </a:r>
          </a:p>
        </p:txBody>
      </p:sp>
      <p:sp>
        <p:nvSpPr>
          <p:cNvPr id="17" name="Rectangle: Rounded Corners 16">
            <a:extLst>
              <a:ext uri="{FF2B5EF4-FFF2-40B4-BE49-F238E27FC236}">
                <a16:creationId xmlns:a16="http://schemas.microsoft.com/office/drawing/2014/main" id="{88DF014D-1639-45E7-A62D-2F82A597ABD7}"/>
              </a:ext>
            </a:extLst>
          </p:cNvPr>
          <p:cNvSpPr/>
          <p:nvPr/>
        </p:nvSpPr>
        <p:spPr>
          <a:xfrm>
            <a:off x="12461359" y="7775057"/>
            <a:ext cx="2083981" cy="36682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err="1">
                <a:ln w="6600">
                  <a:solidFill>
                    <a:schemeClr val="accent2"/>
                  </a:solidFill>
                  <a:prstDash val="solid"/>
                </a:ln>
                <a:solidFill>
                  <a:srgbClr val="FFFFFF"/>
                </a:solidFill>
                <a:effectLst>
                  <a:outerShdw dist="38100" dir="2700000" algn="tl" rotWithShape="0">
                    <a:schemeClr val="accent2"/>
                  </a:outerShdw>
                </a:effectLst>
              </a:rPr>
              <a:t>SportWearXpress</a:t>
            </a: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08707" y="578525"/>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403C4E"/>
                </a:solidFill>
                <a:latin typeface="Merriweather Bold" pitchFamily="34" charset="0"/>
                <a:ea typeface="Merriweather Bold" pitchFamily="34" charset="-122"/>
                <a:cs typeface="Merriweather Bold" pitchFamily="34" charset="-120"/>
              </a:rPr>
              <a:t>Conclusion</a:t>
            </a:r>
            <a:endParaRPr lang="en-US" sz="4450" dirty="0"/>
          </a:p>
        </p:txBody>
      </p:sp>
      <p:sp>
        <p:nvSpPr>
          <p:cNvPr id="4" name="Text 1"/>
          <p:cNvSpPr/>
          <p:nvPr/>
        </p:nvSpPr>
        <p:spPr>
          <a:xfrm>
            <a:off x="6280190" y="1547455"/>
            <a:ext cx="7556421" cy="1451610"/>
          </a:xfrm>
          <a:prstGeom prst="rect">
            <a:avLst/>
          </a:prstGeom>
          <a:noFill/>
          <a:ln/>
        </p:spPr>
        <p:txBody>
          <a:bodyPr wrap="square" lIns="0" tIns="0" rIns="0" bIns="0" rtlCol="0" anchor="t"/>
          <a:lstStyle/>
          <a:p>
            <a:pPr marL="0" indent="0">
              <a:lnSpc>
                <a:spcPts val="2850"/>
              </a:lnSpc>
              <a:buNone/>
            </a:pPr>
            <a:r>
              <a:rPr lang="en-US" sz="2400" dirty="0" err="1">
                <a:solidFill>
                  <a:srgbClr val="403C4E"/>
                </a:solidFill>
                <a:latin typeface="Open Sans" pitchFamily="34" charset="0"/>
                <a:ea typeface="Open Sans" pitchFamily="34" charset="-122"/>
                <a:cs typeface="Open Sans" pitchFamily="34" charset="-120"/>
              </a:rPr>
              <a:t>SportswearXpress</a:t>
            </a:r>
            <a:r>
              <a:rPr lang="en-US" sz="2400" dirty="0">
                <a:solidFill>
                  <a:srgbClr val="403C4E"/>
                </a:solidFill>
                <a:latin typeface="Open Sans" pitchFamily="34" charset="0"/>
                <a:ea typeface="Open Sans" pitchFamily="34" charset="-122"/>
                <a:cs typeface="Open Sans" pitchFamily="34" charset="-120"/>
              </a:rPr>
              <a:t> uses AI to make sportswear customization easier and more efficient. With intelligent design tools, automated pricing, and real-time communication, users can create precise designs and interact seamlessly with sellers. This innovation improves user experience, reduces errors, and streamlines the entire customization process, setting a new standard in the industry.</a:t>
            </a:r>
          </a:p>
        </p:txBody>
      </p:sp>
      <p:sp>
        <p:nvSpPr>
          <p:cNvPr id="5" name="Rectangle: Rounded Corners 4">
            <a:extLst>
              <a:ext uri="{FF2B5EF4-FFF2-40B4-BE49-F238E27FC236}">
                <a16:creationId xmlns:a16="http://schemas.microsoft.com/office/drawing/2014/main" id="{055560D0-5440-4E59-B991-88B9328A4CEF}"/>
              </a:ext>
            </a:extLst>
          </p:cNvPr>
          <p:cNvSpPr/>
          <p:nvPr/>
        </p:nvSpPr>
        <p:spPr>
          <a:xfrm>
            <a:off x="12461359" y="7775057"/>
            <a:ext cx="2083981" cy="36682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err="1">
                <a:ln w="6600">
                  <a:solidFill>
                    <a:schemeClr val="accent2"/>
                  </a:solidFill>
                  <a:prstDash val="solid"/>
                </a:ln>
                <a:solidFill>
                  <a:srgbClr val="FFFFFF"/>
                </a:solidFill>
                <a:effectLst>
                  <a:outerShdw dist="38100" dir="2700000" algn="tl" rotWithShape="0">
                    <a:schemeClr val="accent2"/>
                  </a:outerShdw>
                </a:effectLst>
              </a:rPr>
              <a:t>SportWearXpress</a:t>
            </a: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817</TotalTime>
  <Words>650</Words>
  <Application>Microsoft Office PowerPoint</Application>
  <PresentationFormat>Custom</PresentationFormat>
  <Paragraphs>130</Paragraphs>
  <Slides>48</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Merriweather Bold</vt:lpstr>
      <vt:lpstr>Montserrat Classic Bold</vt:lpstr>
      <vt:lpstr>Arial</vt:lpstr>
      <vt:lpstr>Times New Roman</vt:lpstr>
      <vt:lpstr>Open Sans</vt:lpstr>
      <vt:lpstr>Calibri</vt:lpstr>
      <vt:lpstr>Calibri (Body)</vt:lpstr>
      <vt:lpstr>Oswald Bold</vt:lpstr>
      <vt:lpstr>Calibri </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Muneeb</cp:lastModifiedBy>
  <cp:revision>45</cp:revision>
  <dcterms:created xsi:type="dcterms:W3CDTF">2025-01-31T17:27:40Z</dcterms:created>
  <dcterms:modified xsi:type="dcterms:W3CDTF">2025-06-28T03:31:41Z</dcterms:modified>
</cp:coreProperties>
</file>